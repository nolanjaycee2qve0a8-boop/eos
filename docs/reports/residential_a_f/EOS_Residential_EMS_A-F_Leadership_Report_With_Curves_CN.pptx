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1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7975a2ecae408e" /><Relationship Type="http://schemas.openxmlformats.org/officeDocument/2006/relationships/extended-properties" Target="/docProps/app.xml" Id="R6cfcb74eca404b02" /><Relationship Type="http://schemas.openxmlformats.org/officeDocument/2006/relationships/officeDocument" Target="/ppt/presentation.xml" Id="R5717a5e85da848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0a241599654bb8"/>
  </p:sldMasterIdLst>
  <p:notesMasterIdLst>
    <p:notesMasterId xmlns:r="http://schemas.openxmlformats.org/officeDocument/2006/relationships" r:id="R554c328680b34110"/>
  </p:notesMasterIdLst>
  <p:sldIdLst>
    <p:sldId xmlns:r="http://schemas.openxmlformats.org/officeDocument/2006/relationships" id="256" r:id="R422cdc7f4f994166"/>
    <p:sldId xmlns:r="http://schemas.openxmlformats.org/officeDocument/2006/relationships" id="257" r:id="Rdfa1062c4aee480c"/>
    <p:sldId xmlns:r="http://schemas.openxmlformats.org/officeDocument/2006/relationships" id="258" r:id="Ra58d1908dfd04c06"/>
    <p:sldId xmlns:r="http://schemas.openxmlformats.org/officeDocument/2006/relationships" id="259" r:id="R2c7074b17bdb4d0f"/>
    <p:sldId xmlns:r="http://schemas.openxmlformats.org/officeDocument/2006/relationships" id="260" r:id="Rdad6b068d0034127"/>
    <p:sldId xmlns:r="http://schemas.openxmlformats.org/officeDocument/2006/relationships" id="261" r:id="Re73290f6aeb340a6"/>
    <p:sldId xmlns:r="http://schemas.openxmlformats.org/officeDocument/2006/relationships" id="262" r:id="Rec78d693d6174e2e"/>
    <p:sldId xmlns:r="http://schemas.openxmlformats.org/officeDocument/2006/relationships" id="263" r:id="R495f39b667014be4"/>
    <p:sldId xmlns:r="http://schemas.openxmlformats.org/officeDocument/2006/relationships" id="264" r:id="R51568c1de17b46bb"/>
    <p:sldId xmlns:r="http://schemas.openxmlformats.org/officeDocument/2006/relationships" id="265" r:id="R67a58349b2e14fb7"/>
    <p:sldId xmlns:r="http://schemas.openxmlformats.org/officeDocument/2006/relationships" id="266" r:id="R9bb1576b1a074063"/>
    <p:sldId xmlns:r="http://schemas.openxmlformats.org/officeDocument/2006/relationships" id="267" r:id="R74ddf5bd9bfb45fe"/>
    <p:sldId xmlns:r="http://schemas.openxmlformats.org/officeDocument/2006/relationships" id="268" r:id="Ra09aaf78c26142f9"/>
    <p:sldId xmlns:r="http://schemas.openxmlformats.org/officeDocument/2006/relationships" id="269" r:id="Rf69a207d45ce4cef"/>
    <p:sldId xmlns:r="http://schemas.openxmlformats.org/officeDocument/2006/relationships" id="270" r:id="R6ddab1ef931348d0"/>
    <p:sldId xmlns:r="http://schemas.openxmlformats.org/officeDocument/2006/relationships" id="271" r:id="R55d3b988731a4e24"/>
    <p:sldId xmlns:r="http://schemas.openxmlformats.org/officeDocument/2006/relationships" id="272" r:id="Rdd3e504c44cc4942"/>
    <p:sldId xmlns:r="http://schemas.openxmlformats.org/officeDocument/2006/relationships" id="273" r:id="R2cdb0d5b91c7439c"/>
    <p:sldId xmlns:r="http://schemas.openxmlformats.org/officeDocument/2006/relationships" id="274" r:id="R527b4084f410468c"/>
    <p:sldId xmlns:r="http://schemas.openxmlformats.org/officeDocument/2006/relationships" id="275" r:id="R3718f87fdf5e4696"/>
    <p:sldId xmlns:r="http://schemas.openxmlformats.org/officeDocument/2006/relationships" id="276" r:id="Re57ce9e2da334a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22a8ed00ae424a" /><Relationship Type="http://schemas.openxmlformats.org/officeDocument/2006/relationships/slideMaster" Target="/ppt/slideMasters/slideMaster1.xml" Id="R680a241599654bb8" /><Relationship Type="http://schemas.openxmlformats.org/officeDocument/2006/relationships/notesMaster" Target="/ppt/notesMasters/notesMaster1.xml" Id="R554c328680b34110" /><Relationship Type="http://schemas.openxmlformats.org/officeDocument/2006/relationships/presProps" Target="/ppt/presProps.xml" Id="Re611d83281654dbe" /><Relationship Type="http://schemas.openxmlformats.org/officeDocument/2006/relationships/tableStyles" Target="/ppt/tableStyles.xml" Id="R673a3b5249254582" /><Relationship Type="http://schemas.openxmlformats.org/officeDocument/2006/relationships/slide" Target="/ppt/slides/slide1.xml" Id="R422cdc7f4f994166" /><Relationship Type="http://schemas.openxmlformats.org/officeDocument/2006/relationships/slide" Target="/ppt/slides/slide2.xml" Id="Rdfa1062c4aee480c" /><Relationship Type="http://schemas.openxmlformats.org/officeDocument/2006/relationships/slide" Target="/ppt/slides/slide3.xml" Id="Ra58d1908dfd04c06" /><Relationship Type="http://schemas.openxmlformats.org/officeDocument/2006/relationships/slide" Target="/ppt/slides/slide4.xml" Id="R2c7074b17bdb4d0f" /><Relationship Type="http://schemas.openxmlformats.org/officeDocument/2006/relationships/slide" Target="/ppt/slides/slide5.xml" Id="Rdad6b068d0034127" /><Relationship Type="http://schemas.openxmlformats.org/officeDocument/2006/relationships/slide" Target="/ppt/slides/slide6.xml" Id="Re73290f6aeb340a6" /><Relationship Type="http://schemas.openxmlformats.org/officeDocument/2006/relationships/slide" Target="/ppt/slides/slide7.xml" Id="Rec78d693d6174e2e" /><Relationship Type="http://schemas.openxmlformats.org/officeDocument/2006/relationships/slide" Target="/ppt/slides/slide8.xml" Id="R495f39b667014be4" /><Relationship Type="http://schemas.openxmlformats.org/officeDocument/2006/relationships/slide" Target="/ppt/slides/slide9.xml" Id="R51568c1de17b46bb" /><Relationship Type="http://schemas.openxmlformats.org/officeDocument/2006/relationships/slide" Target="/ppt/slides/slide10.xml" Id="R67a58349b2e14fb7" /><Relationship Type="http://schemas.openxmlformats.org/officeDocument/2006/relationships/slide" Target="/ppt/slides/slide11.xml" Id="R9bb1576b1a074063" /><Relationship Type="http://schemas.openxmlformats.org/officeDocument/2006/relationships/slide" Target="/ppt/slides/slide12.xml" Id="R74ddf5bd9bfb45fe" /><Relationship Type="http://schemas.openxmlformats.org/officeDocument/2006/relationships/slide" Target="/ppt/slides/slide13.xml" Id="Ra09aaf78c26142f9" /><Relationship Type="http://schemas.openxmlformats.org/officeDocument/2006/relationships/slide" Target="/ppt/slides/slide14.xml" Id="Rf69a207d45ce4cef" /><Relationship Type="http://schemas.openxmlformats.org/officeDocument/2006/relationships/slide" Target="/ppt/slides/slide15.xml" Id="R6ddab1ef931348d0" /><Relationship Type="http://schemas.openxmlformats.org/officeDocument/2006/relationships/slide" Target="/ppt/slides/slide16.xml" Id="R55d3b988731a4e24" /><Relationship Type="http://schemas.openxmlformats.org/officeDocument/2006/relationships/slide" Target="/ppt/slides/slide17.xml" Id="Rdd3e504c44cc4942" /><Relationship Type="http://schemas.openxmlformats.org/officeDocument/2006/relationships/slide" Target="/ppt/slides/slide18.xml" Id="R2cdb0d5b91c7439c" /><Relationship Type="http://schemas.openxmlformats.org/officeDocument/2006/relationships/slide" Target="/ppt/slides/slide19.xml" Id="R527b4084f410468c" /><Relationship Type="http://schemas.openxmlformats.org/officeDocument/2006/relationships/slide" Target="/ppt/slides/slide20.xml" Id="R3718f87fdf5e4696" /><Relationship Type="http://schemas.openxmlformats.org/officeDocument/2006/relationships/slide" Target="/ppt/slides/slide21.xml" Id="Re57ce9e2da334a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a84408afa74b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fa9d0ff51c4c7f" /><Relationship Type="http://schemas.openxmlformats.org/officeDocument/2006/relationships/notesMaster" Target="/ppt/notesMasters/notesMaster1.xml" Id="Rccd2499f8cad4c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380b924a844395" /><Relationship Type="http://schemas.openxmlformats.org/officeDocument/2006/relationships/notesMaster" Target="/ppt/notesMasters/notesMaster1.xml" Id="R418bc70c855541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b98bc49f164351" /><Relationship Type="http://schemas.openxmlformats.org/officeDocument/2006/relationships/notesMaster" Target="/ppt/notesMasters/notesMaster1.xml" Id="Ree57daadc5d04c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53a13a795443ce" /><Relationship Type="http://schemas.openxmlformats.org/officeDocument/2006/relationships/notesMaster" Target="/ppt/notesMasters/notesMaster1.xml" Id="R9b654515aefd4c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96ed07de8d411c" /><Relationship Type="http://schemas.openxmlformats.org/officeDocument/2006/relationships/notesMaster" Target="/ppt/notesMasters/notesMaster1.xml" Id="R657b08c3ee7d4c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cbf193a4d6431d" /><Relationship Type="http://schemas.openxmlformats.org/officeDocument/2006/relationships/notesMaster" Target="/ppt/notesMasters/notesMaster1.xml" Id="Rae7f4fd6a48e41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2c56ea3e974466" /><Relationship Type="http://schemas.openxmlformats.org/officeDocument/2006/relationships/notesMaster" Target="/ppt/notesMasters/notesMaster1.xml" Id="Ra2a73199c2dd4e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573e287d424fb5" /><Relationship Type="http://schemas.openxmlformats.org/officeDocument/2006/relationships/notesMaster" Target="/ppt/notesMasters/notesMaster1.xml" Id="R7c75893a0e314a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742081611c4b2e" /><Relationship Type="http://schemas.openxmlformats.org/officeDocument/2006/relationships/notesMaster" Target="/ppt/notesMasters/notesMaster1.xml" Id="R8fe34226505645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f27d6d6b24443d" /><Relationship Type="http://schemas.openxmlformats.org/officeDocument/2006/relationships/notesMaster" Target="/ppt/notesMasters/notesMaster1.xml" Id="R4fe18bcb059e40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477a5a2580443d" /><Relationship Type="http://schemas.openxmlformats.org/officeDocument/2006/relationships/notesMaster" Target="/ppt/notesMasters/notesMaster1.xml" Id="R30571d0e6a574a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b7eeef5bc64a0a" /><Relationship Type="http://schemas.openxmlformats.org/officeDocument/2006/relationships/notesMaster" Target="/ppt/notesMasters/notesMaster1.xml" Id="Rc3b76c018eeb4f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dd25b8bf674d22" /><Relationship Type="http://schemas.openxmlformats.org/officeDocument/2006/relationships/notesMaster" Target="/ppt/notesMasters/notesMaster1.xml" Id="Rbbe82cd83e2044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b03323b06b403d" /><Relationship Type="http://schemas.openxmlformats.org/officeDocument/2006/relationships/notesMaster" Target="/ppt/notesMasters/notesMaster1.xml" Id="Rd45a82a4db0d4e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8080be376e4bf8" /><Relationship Type="http://schemas.openxmlformats.org/officeDocument/2006/relationships/notesMaster" Target="/ppt/notesMasters/notesMaster1.xml" Id="R1772154afafc45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1842a4370047c8" /><Relationship Type="http://schemas.openxmlformats.org/officeDocument/2006/relationships/notesMaster" Target="/ppt/notesMasters/notesMaster1.xml" Id="R932c985dea9a47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50ff3dfea847b3" /><Relationship Type="http://schemas.openxmlformats.org/officeDocument/2006/relationships/notesMaster" Target="/ppt/notesMasters/notesMaster1.xml" Id="R14661668bca940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b9e02dd90a4131" /><Relationship Type="http://schemas.openxmlformats.org/officeDocument/2006/relationships/notesMaster" Target="/ppt/notesMasters/notesMaster1.xml" Id="R19623028a40d41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7faef6d185b43ef" /><Relationship Type="http://schemas.openxmlformats.org/officeDocument/2006/relationships/notesMaster" Target="/ppt/notesMasters/notesMaster1.xml" Id="R01e136101a2e423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d18a28e55154bf8" /><Relationship Type="http://schemas.openxmlformats.org/officeDocument/2006/relationships/notesMaster" Target="/ppt/notesMasters/notesMaster1.xml" Id="R90268a765f2649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3fac5f1c32142f8" /><Relationship Type="http://schemas.openxmlformats.org/officeDocument/2006/relationships/notesMaster" Target="/ppt/notesMasters/notesMaster1.xml" Id="R8d82254af9824f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- - report_output_residential_a_f_leadership/charts/reference_typical_day.svg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- - report_output_residential_a_f_leadership/charts/high_pv_typical_day.svg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- - report_output_residential_a_f_leadership/charts/high_evening_load_typical_day.svg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- - report_output_residential_a_f_leadership/charts/typical_scenario_comparison.svg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- - report_output_residential_a_f_leadership/data/typical_scenario_strategy_comparison.csv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https://github.com/nolanjaycee2qve0a8-boop/EOS/blob/main/docs/validation/RESIDENTIAL_VALIDATION_A_F_SUMMARY.md</a:t>
            </a:r>
          </a:p>
          <a:p xmlns:a="http://schemas.openxmlformats.org/drawingml/2006/main">
            <a:r>
              <a:t>- https://github.com/nolanjaycee2qve0a8-boop/EOS/blob/main/docs/validation/RESIDENTIAL_CAMPAIGN_A.md</a:t>
            </a:r>
          </a:p>
          <a:p xmlns:a="http://schemas.openxmlformats.org/drawingml/2006/main">
            <a:r>
              <a:t>- https://github.com/nolanjaycee2qve0a8-boop/EOS/blob/main/docs/validation/RESIDENTIAL_CAMPAIGN_C.md</a:t>
            </a:r>
          </a:p>
          <a:p xmlns:a="http://schemas.openxmlformats.org/drawingml/2006/main">
            <a:r>
              <a:t>- https://github.com/nolanjaycee2qve0a8-boop/EOS/blob/main/docs/validation/RESIDENTIAL_CAMPAIGN_D.md</a:t>
            </a:r>
          </a:p>
          <a:p xmlns:a="http://schemas.openxmlformats.org/drawingml/2006/main">
            <a:r>
              <a:t>- https://github.com/nolanjaycee2qve0a8-boop/EOS/blob/main/docs/validation/RESIDENTIAL_CAMPAIGN_E.md</a:t>
            </a:r>
          </a:p>
          <a:p xmlns:a="http://schemas.openxmlformats.org/drawingml/2006/main">
            <a:r>
              <a:t>- https://github.com/nolanjaycee2qve0a8-boop/EOS/blob/main/docs/validation/RESIDENTIAL_CAMPAIGN_F.md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56c2b50d749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68155087714c24" /><Relationship Type="http://schemas.openxmlformats.org/officeDocument/2006/relationships/slideLayout" Target="/ppt/slideLayouts/slideLayout1.xml" Id="Rea922388baef41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922388baef41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0a0fe7978429b" /><Relationship Type="http://schemas.openxmlformats.org/officeDocument/2006/relationships/notesSlide" Target="/ppt/notesSlides/notesSlide1.xml" Id="R701fc096e9bc47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5a72f2c94471d" /><Relationship Type="http://schemas.openxmlformats.org/officeDocument/2006/relationships/notesSlide" Target="/ppt/notesSlides/notesSlide2.xml" Id="Rc58c4eeb794147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e5381278c4306" /><Relationship Type="http://schemas.openxmlformats.org/officeDocument/2006/relationships/notesSlide" Target="/ppt/notesSlides/notesSlide3.xml" Id="Rfc5fc943853e40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1fa053e01473b" /><Relationship Type="http://schemas.openxmlformats.org/officeDocument/2006/relationships/notesSlide" Target="/ppt/notesSlides/notesSlide4.xml" Id="R4707bc21beee45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ac701b3364dcb" /><Relationship Type="http://schemas.openxmlformats.org/officeDocument/2006/relationships/notesSlide" Target="/ppt/notesSlides/notesSlide5.xml" Id="Rb0ce7c8f783d40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0247f0ab14a81" /><Relationship Type="http://schemas.openxmlformats.org/officeDocument/2006/relationships/notesSlide" Target="/ppt/notesSlides/notesSlide6.xml" Id="R90356a6b387741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b59c234aa48e7" /><Relationship Type="http://schemas.openxmlformats.org/officeDocument/2006/relationships/notesSlide" Target="/ppt/notesSlides/notesSlide7.xml" Id="R041abe7215e141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bf23501ff4462" /><Relationship Type="http://schemas.openxmlformats.org/officeDocument/2006/relationships/notesSlide" Target="/ppt/notesSlides/notesSlide8.xml" Id="Rc3d2710116394f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1045518ed4ec4" /><Relationship Type="http://schemas.openxmlformats.org/officeDocument/2006/relationships/image" Target="/ppt/media/image.png" Id="R7dd0afdb1bbc4f81" /><Relationship Type="http://schemas.openxmlformats.org/officeDocument/2006/relationships/image" Target="/ppt/media/image.svg" Id="R2fff9e5891e04da6" /><Relationship Type="http://schemas.openxmlformats.org/officeDocument/2006/relationships/notesSlide" Target="/ppt/notesSlides/notesSlide9.xml" Id="R248fd1e3db2246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b971ce3c64cc0" /><Relationship Type="http://schemas.openxmlformats.org/officeDocument/2006/relationships/image" Target="/ppt/media/image2.png" Id="Rfce08d02e591448e" /><Relationship Type="http://schemas.openxmlformats.org/officeDocument/2006/relationships/image" Target="/ppt/media/image2.svg" Id="Rcdfc80618a5546ca" /><Relationship Type="http://schemas.openxmlformats.org/officeDocument/2006/relationships/notesSlide" Target="/ppt/notesSlides/notesSlide10.xml" Id="Rd57a2c9dd06843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8e17b3bcd4702" /><Relationship Type="http://schemas.openxmlformats.org/officeDocument/2006/relationships/image" Target="/ppt/media/image3.png" Id="R2743de84e2aa46b5" /><Relationship Type="http://schemas.openxmlformats.org/officeDocument/2006/relationships/image" Target="/ppt/media/image3.svg" Id="R089422ce76874f27" /><Relationship Type="http://schemas.openxmlformats.org/officeDocument/2006/relationships/notesSlide" Target="/ppt/notesSlides/notesSlide11.xml" Id="R01d02a7d0b9741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738eb02eb4d2c" /><Relationship Type="http://schemas.openxmlformats.org/officeDocument/2006/relationships/image" Target="/ppt/media/image4.png" Id="R776fff7a3a82425f" /><Relationship Type="http://schemas.openxmlformats.org/officeDocument/2006/relationships/image" Target="/ppt/media/image4.svg" Id="Rdd41c933962a472e" /><Relationship Type="http://schemas.openxmlformats.org/officeDocument/2006/relationships/notesSlide" Target="/ppt/notesSlides/notesSlide12.xml" Id="Rc13093a1724e45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639c9709b4679" /><Relationship Type="http://schemas.openxmlformats.org/officeDocument/2006/relationships/notesSlide" Target="/ppt/notesSlides/notesSlide13.xml" Id="R3fb91b31972e4e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5531b88fa4275" /><Relationship Type="http://schemas.openxmlformats.org/officeDocument/2006/relationships/notesSlide" Target="/ppt/notesSlides/notesSlide14.xml" Id="R684b81375fb442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b027a66d845fe" /><Relationship Type="http://schemas.openxmlformats.org/officeDocument/2006/relationships/notesSlide" Target="/ppt/notesSlides/notesSlide15.xml" Id="Rfde528c21bac41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f782d69ee4b4b" /><Relationship Type="http://schemas.openxmlformats.org/officeDocument/2006/relationships/notesSlide" Target="/ppt/notesSlides/notesSlide16.xml" Id="R6f26736c77fe47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7b97b09474607" /><Relationship Type="http://schemas.openxmlformats.org/officeDocument/2006/relationships/notesSlide" Target="/ppt/notesSlides/notesSlide17.xml" Id="R8b97dac6f4e645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67814cb87439a" /><Relationship Type="http://schemas.openxmlformats.org/officeDocument/2006/relationships/chart" Target="/ppt/slides/charts/chart1.xml" Id="Red108bf3cd1d4f62" /><Relationship Type="http://schemas.openxmlformats.org/officeDocument/2006/relationships/notesSlide" Target="/ppt/notesSlides/notesSlide18.xml" Id="R2b117e528c0c451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211f802994cf1" /><Relationship Type="http://schemas.openxmlformats.org/officeDocument/2006/relationships/notesSlide" Target="/ppt/notesSlides/notesSlide19.xml" Id="Rd62ca3481ffd4de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7ad672803498d" /><Relationship Type="http://schemas.openxmlformats.org/officeDocument/2006/relationships/notesSlide" Target="/ppt/notesSlides/notesSlide20.xml" Id="R2fb704ed192c4d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f31896ef74b2d" /><Relationship Type="http://schemas.openxmlformats.org/officeDocument/2006/relationships/notesSlide" Target="/ppt/notesSlides/notesSlide21.xml" Id="Rb1885101dc264dc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Forecast load</c:v>
          </c:tx>
          <c:spPr>
            <a:solidFill xmlns:a="http://schemas.openxmlformats.org/drawingml/2006/main">
              <a:srgbClr val="1D70B8"/>
            </a:solidFill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General</c:formatCode>
              <c:ptCount val="24"/>
              <c:pt idx="0">
                <c:v>1.2</c:v>
              </c:pt>
              <c:pt idx="1">
                <c:v>1</c:v>
              </c:pt>
              <c:pt idx="2">
                <c:v>0.8</c:v>
              </c:pt>
              <c:pt idx="3">
                <c:v>0.8</c:v>
              </c:pt>
              <c:pt idx="4">
                <c:v>0.8</c:v>
              </c:pt>
              <c:pt idx="5">
                <c:v>0.8</c:v>
              </c:pt>
              <c:pt idx="6">
                <c:v>0.8</c:v>
              </c:pt>
              <c:pt idx="7">
                <c:v>0.8</c:v>
              </c:pt>
              <c:pt idx="8">
                <c:v>0.9</c:v>
              </c:pt>
              <c:pt idx="9">
                <c:v>0.9</c:v>
              </c:pt>
              <c:pt idx="10">
                <c:v>0.8</c:v>
              </c:pt>
              <c:pt idx="11">
                <c:v>0.8</c:v>
              </c:pt>
              <c:pt idx="12">
                <c:v>0.9</c:v>
              </c:pt>
              <c:pt idx="13">
                <c:v>1</c:v>
              </c:pt>
              <c:pt idx="14">
                <c:v>1.1</c:v>
              </c:pt>
              <c:pt idx="15">
                <c:v>1</c:v>
              </c:pt>
              <c:pt idx="16">
                <c:v>1</c:v>
              </c:pt>
              <c:pt idx="17">
                <c:v>1</c:v>
              </c:pt>
              <c:pt idx="18">
                <c:v>1</c:v>
              </c:pt>
              <c:pt idx="19">
                <c:v>1.2</c:v>
              </c:pt>
              <c:pt idx="20">
                <c:v>2</c:v>
              </c:pt>
              <c:pt idx="21">
                <c:v>2.5</c:v>
              </c:pt>
              <c:pt idx="22">
                <c:v>2.2</c:v>
              </c:pt>
              <c:pt idx="23">
                <c:v>1.8</c:v>
              </c:pt>
            </c:numLit>
          </c:val>
        </c:ser>
        <c:ser>
          <c:idx val="1"/>
          <c:order val="1"/>
          <c:tx>
            <c:v>Realized load</c:v>
          </c:tx>
          <c:spPr>
            <a:solidFill xmlns:a="http://schemas.openxmlformats.org/drawingml/2006/main">
              <a:srgbClr val="E07A00"/>
            </a:solidFill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General</c:formatCode>
              <c:ptCount val="24"/>
              <c:pt idx="0">
                <c:v>0.8</c:v>
              </c:pt>
              <c:pt idx="1">
                <c:v>0.8</c:v>
              </c:pt>
              <c:pt idx="2">
                <c:v>0.8</c:v>
              </c:pt>
              <c:pt idx="3">
                <c:v>0.8</c:v>
              </c:pt>
              <c:pt idx="4">
                <c:v>0.8</c:v>
              </c:pt>
              <c:pt idx="5">
                <c:v>0.8</c:v>
              </c:pt>
              <c:pt idx="6">
                <c:v>0.9</c:v>
              </c:pt>
              <c:pt idx="7">
                <c:v>0.9</c:v>
              </c:pt>
              <c:pt idx="8">
                <c:v>0.8</c:v>
              </c:pt>
              <c:pt idx="9">
                <c:v>0.8</c:v>
              </c:pt>
              <c:pt idx="10">
                <c:v>0.9</c:v>
              </c:pt>
              <c:pt idx="11">
                <c:v>1</c:v>
              </c:pt>
              <c:pt idx="12">
                <c:v>1.1</c:v>
              </c:pt>
              <c:pt idx="13">
                <c:v>1</c:v>
              </c:pt>
              <c:pt idx="14">
                <c:v>1</c:v>
              </c:pt>
              <c:pt idx="15">
                <c:v>1</c:v>
              </c:pt>
              <c:pt idx="16">
                <c:v>1</c:v>
              </c:pt>
              <c:pt idx="17">
                <c:v>1.2</c:v>
              </c:pt>
              <c:pt idx="18">
                <c:v>2</c:v>
              </c:pt>
              <c:pt idx="19">
                <c:v>2.5</c:v>
              </c:pt>
              <c:pt idx="20">
                <c:v>2.2</c:v>
              </c:pt>
              <c:pt idx="21">
                <c:v>1.8</c:v>
              </c:pt>
              <c:pt idx="22">
                <c:v>1.2</c:v>
              </c:pt>
              <c:pt idx="23">
                <c:v>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hour 0-23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3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kW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B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E38D6-F185-4042-96C7-C91D9174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FE7FF"/>
                </a:solidFill>
              </a:defRPr>
            </a:pPr>
            <a:r>
              <a:rPr sz="2100" b="1">
                <a:solidFill>
                  <a:srgbClr val="BFE7FF"/>
                </a:solidFill>
              </a:rPr>
              <a:t>Residential EMS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1B496-E95C-4C8A-AD35-1C491092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52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仿真验证体系 A–F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收口汇报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64630-4650-4675-A62B-A1E06650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5EAF7"/>
                </a:solidFill>
              </a:defRPr>
            </a:pPr>
            <a:r>
              <a:rPr sz="1650" b="0">
                <a:solidFill>
                  <a:srgbClr val="D5EAF7"/>
                </a:solidFill>
              </a:rPr>
              <a:t>典型住宅日运行曲线 · 冻结控制链验证 · 产品化前的证据边界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B9B5F-5C7C-445B-AD3D-51293C94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62050"/>
            <a:ext cx="2857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3"/>
          </a:solidFill>
          <a:ln xmlns:a="http://schemas.openxmlformats.org/drawingml/2006/main" w="9525">
            <a:solidFill>
              <a:srgbClr val="2C5D8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A64FA-5A41-405A-A02D-8C57AAB8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43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FE7FF"/>
                </a:solidFill>
              </a:defRPr>
            </a:pPr>
            <a:r>
              <a:rPr sz="1425" b="1">
                <a:solidFill>
                  <a:srgbClr val="BFE7FF"/>
                </a:solidFill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4BCC5-1F89-4754-8B25-25017B3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 → 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51F53-9154-4EB5-B62A-60A5A881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EAF7"/>
                </a:solidFill>
              </a:defRPr>
            </a:pPr>
            <a:r>
              <a:rPr sz="1275" b="0">
                <a:solidFill>
                  <a:srgbClr val="D5EAF7"/>
                </a:solidFill>
              </a:rPr>
              <a:t>软件仿真验证闭环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EAF7"/>
                </a:solidFill>
              </a:defRPr>
            </a:pPr>
            <a:r>
              <a:rPr sz="1275" b="0">
                <a:solidFill>
                  <a:srgbClr val="D5EAF7"/>
                </a:solidFill>
              </a:rPr>
              <a:t>不是产品化就绪证明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E8F5B-8573-49BE-8D1D-30187481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FE7FF"/>
                </a:solidFill>
              </a:defRPr>
            </a:pPr>
            <a:r>
              <a:rPr sz="1125" b="0">
                <a:solidFill>
                  <a:srgbClr val="BFE7FF"/>
                </a:solidFill>
              </a:rPr>
              <a:t>2026 · EOS 户用储能 EMS</a:t>
            </a:r>
          </a:p>
        </p:txBody>
      </p:sp>
    </p:spTree>
    <p:extLst>
      <p:ext uri="{BB962C8B-B14F-4D97-AF65-F5344CB8AC3E}">
        <p14:creationId xmlns:p14="http://schemas.microsoft.com/office/powerpoint/2010/main" val="938792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BF56D-385A-4732-8F2E-F6FDFC97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AA"/>
                </a:solidFill>
              </a:defRPr>
            </a:pPr>
            <a:r>
              <a:rPr sz="975" b="1">
                <a:solidFill>
                  <a:srgbClr val="1769AA"/>
                </a:solidFill>
              </a:rPr>
              <a:t>RESIDENTIAL EMS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693C5-82A0-454A-A4F8-3BB33F3A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2B4A"/>
                </a:solidFill>
              </a:defRPr>
            </a:pPr>
            <a:r>
              <a:rPr sz="2700" b="1">
                <a:solidFill>
                  <a:srgbClr val="0B2B4A"/>
                </a:solidFill>
              </a:rPr>
              <a:t>一句话结论：验证闭环完成，产品化验证尚未开始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1CAD7-7DA3-4A64-874A-6F700D16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E5"/>
          </a:solidFill>
          <a:ln xmlns:a="http://schemas.openxmlformats.org/drawingml/2006/main" w="0">
            <a:solidFill>
              <a:srgbClr val="5BB6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54708-682E-4B71-9796-B3222543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69AA"/>
                </a:solidFill>
              </a:defRPr>
            </a:pPr>
            <a:r>
              <a:rPr sz="1800" b="1">
                <a:solidFill>
                  <a:srgbClr val="1769AA"/>
                </a:solidFill>
              </a:rPr>
              <a:t>当前最可信的结论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CA3CF-276D-48FC-963C-C1BD3EEE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2B4A"/>
                </a:solidFill>
              </a:defRPr>
            </a:pPr>
            <a:r>
              <a:rPr sz="2100" b="1">
                <a:solidFill>
                  <a:srgbClr val="0B2B4A"/>
                </a:solidFill>
              </a:rPr>
              <a:t>冻结控制链在明确的合成、确定性验证范围内，可重复执行、保持实际 Simulator 事实权威，并以 fail-closed 方式发布完整证据。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B9429-79C7-42F8-A2D3-D5A6C820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19250"/>
            <a:ext cx="5143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BE5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30E46-6F86-4FEF-B5DD-1222E991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2B4A"/>
                </a:solidFill>
              </a:defRPr>
            </a:pPr>
            <a:r>
              <a:rPr sz="3000" b="1">
                <a:solidFill>
                  <a:srgbClr val="0B2B4A"/>
                </a:solidFill>
              </a:rPr>
              <a:t>A–F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DDEB5-49B3-493F-9071-0FB70B31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六阶段证据链已完成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4D503-1C48-4841-BDC8-C4013513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766E"/>
                </a:solidFill>
              </a:defRPr>
            </a:pPr>
            <a:r>
              <a:rPr sz="3000" b="1">
                <a:solidFill>
                  <a:srgbClr val="0F766E"/>
                </a:solidFill>
              </a:rPr>
              <a:t>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FFB02-955C-47BA-8D15-C1039BD7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既定 hard acceptance / publication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1F48D-4F2A-46E7-9130-92CB90E8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不代表：HIL、设备接口、PCS/BMS/DSP、现场可靠性或客户部署就绪。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38F50-9859-428D-BF60-31082EF6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A–F validation consolidation · frozen control / reporting evidence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A3CC3-693E-4C34-85BA-5FED3A02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2B4A"/>
                </a:solidFill>
              </a:defRPr>
            </a:pPr>
            <a:r>
              <a:rPr sz="900" b="1">
                <a:solidFill>
                  <a:srgbClr val="0B2B4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9801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4F5659-C52D-4284-9E9C-736630D6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AA"/>
                </a:solidFill>
              </a:defRPr>
            </a:pPr>
            <a:r>
              <a:rPr sz="975" b="1">
                <a:solidFill>
                  <a:srgbClr val="1769AA"/>
                </a:solidFill>
              </a:rPr>
              <a:t>RESIDENTIAL EMS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778F1-8B80-425C-B04B-B8C148A4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2B4A"/>
                </a:solidFill>
              </a:defRPr>
            </a:pPr>
            <a:r>
              <a:rPr sz="2700" b="1">
                <a:solidFill>
                  <a:srgbClr val="0B2B4A"/>
                </a:solidFill>
              </a:rPr>
              <a:t>A–F 的价值是逐步扩大证据覆盖，而不是叠加控制复杂度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AFB8E-E820-4829-9B18-31440547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E5"/>
          </a:solidFill>
          <a:ln xmlns:a="http://schemas.openxmlformats.org/drawingml/2006/main" w="0">
            <a:solidFill>
              <a:srgbClr val="5BB6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7B243-D775-4B46-A973-D6F6F23F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BF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4A389-7678-485F-99CD-54D02C79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4ECD6-4D9E-4882-B03C-B48B13E3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06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冻结基准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基本接受性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19C7F-CDC5-4343-8E16-B2152ADB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67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69AA"/>
                </a:solidFill>
              </a:defRPr>
            </a:pPr>
            <a:r>
              <a:rPr sz="180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A2B60-438A-4BFB-9356-8222D841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95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BFD9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6F96B-744C-4EB4-9613-A949193E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14F04-2096-4338-A475-D1D314BF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81300"/>
            <a:ext cx="106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物理/经济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E07C7-C6E5-4AFE-BED1-204A3035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67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69AA"/>
                </a:solidFill>
              </a:defRPr>
            </a:pPr>
            <a:r>
              <a:rPr sz="180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66F93-F04B-464F-A8FE-2C06346C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BFD9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4F95A-AE49-4DC3-A863-9D16F86D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8600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FA1C7-1A7A-4992-B50A-8975DF2E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106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单日确定性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预测误差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B3DE4-68D1-498F-A59A-4EA0F48F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7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69AA"/>
                </a:solidFill>
              </a:defRPr>
            </a:pPr>
            <a:r>
              <a:rPr sz="180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0935F-2E02-4EDA-B553-D30466DC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95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BFD9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57C1B-1A53-426D-BAC2-1121624A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EC4F8-0A54-4B39-9AA6-5C15BA4D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06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多日 SOC/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账务连续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DC5DE-2174-49BE-AB78-6932D0AB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67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69AA"/>
                </a:solidFill>
              </a:defRPr>
            </a:pPr>
            <a:r>
              <a:rPr sz="180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54A25-AA9D-4767-91AE-C733FB7C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BFD9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7BC3D-A5CF-4C29-BBD3-4BA57B18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0B95E9-7849-41B5-8B82-CAFF4FA4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106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独立 fixed-seed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合成样本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E77286-CDBD-4BC0-9BD7-1D1BFC0A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67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69AA"/>
                </a:solidFill>
              </a:defRPr>
            </a:pPr>
            <a:r>
              <a:rPr sz="180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91318-107E-4F4A-AF46-7194CE69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FFB"/>
          </a:solidFill>
          <a:ln xmlns:a="http://schemas.openxmlformats.org/drawingml/2006/main" w="9525">
            <a:solidFill>
              <a:srgbClr val="BFD9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E06360-B1A9-43E0-9473-D8776964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8600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AE00D2-726F-47A5-802E-0108962F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81300"/>
            <a:ext cx="106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相关误差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尾部压力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7F6E88-8FE9-4198-ACAE-4DEC3766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86581"/>
                </a:solidFill>
              </a:defRPr>
            </a:pPr>
            <a:r>
              <a:rPr sz="1575" b="0">
                <a:solidFill>
                  <a:srgbClr val="486581"/>
                </a:solidFill>
              </a:rPr>
              <a:t>共同边界：不改变 Strategy、MPC、优化、物理修正、Feasibility、Actuation、Simulator、ledger 或 Runtime。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56541B-A340-4F53-9AE6-89B2AA1A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A–F validation consolidation · frozen control / reporting evidence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3019C5-AD6B-43F4-AA06-CA741FB7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2B4A"/>
                </a:solidFill>
              </a:defRPr>
            </a:pPr>
            <a:r>
              <a:rPr sz="900" b="1">
                <a:solidFill>
                  <a:srgbClr val="0B2B4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826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726FACE-2AB4-4931-91A9-8F1B84A0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AA"/>
                </a:solidFill>
              </a:defRPr>
            </a:pPr>
            <a:r>
              <a:rPr sz="975" b="1">
                <a:solidFill>
                  <a:srgbClr val="1769AA"/>
                </a:solidFill>
              </a:rPr>
              <a:t>RESIDENTIAL EMS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E111A-5E7D-43CB-8087-4E28C222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2B4A"/>
                </a:solidFill>
              </a:defRPr>
            </a:pPr>
            <a:r>
              <a:rPr sz="2325" b="1">
                <a:solidFill>
                  <a:srgbClr val="0B2B4A"/>
                </a:solidFill>
              </a:rPr>
              <a:t>计数必须按单位阅读：路径、执行、scenario-day 与 evidence 不能混加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24C4A-D902-428B-AB89-BD29DA9E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E5"/>
          </a:solidFill>
          <a:ln xmlns:a="http://schemas.openxmlformats.org/drawingml/2006/main" w="0">
            <a:solidFill>
              <a:srgbClr val="5BB6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5190B-0F57-41EC-8182-417F1FFA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4A"/>
          </a:solidFill>
          <a:ln xmlns:a="http://schemas.openxmlformats.org/drawingml/2006/main" w="9525">
            <a:solidFill>
              <a:srgbClr val="0B2B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7DDBB-4D03-4B34-AC03-F4FAF0EC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Campaign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BFCDD-53F8-4A0E-A4DC-C5044C70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66875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4A"/>
          </a:solidFill>
          <a:ln xmlns:a="http://schemas.openxmlformats.org/drawingml/2006/main" w="9525">
            <a:solidFill>
              <a:srgbClr val="0B2B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65698-B520-4F1C-A6B6-07D45AFA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621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验证对象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B30D5-8D0C-46ED-B9AF-1E549EBB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4A"/>
          </a:solidFill>
          <a:ln xmlns:a="http://schemas.openxmlformats.org/drawingml/2006/main" w="9525">
            <a:solidFill>
              <a:srgbClr val="0B2B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3EEFB-725B-47F9-BF43-9D26E40E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logical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E335F-3093-4738-84B8-5CAA26CB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66875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4A"/>
          </a:solidFill>
          <a:ln xmlns:a="http://schemas.openxmlformats.org/drawingml/2006/main" w="9525">
            <a:solidFill>
              <a:srgbClr val="0B2B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FFA30-270B-4EC1-B9EA-8CE8641C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实际 runner/Simulator 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945E7-A516-47E3-90B6-B76438A4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3C30B-6C48-46D0-B711-9E64FF82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02FC0-8F57-4072-8E31-CBE7A532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669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5B645-F966-468B-A181-C88CCB64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24 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30B4C-6971-4C3B-A861-DD516FCC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66925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80D50-3683-4CD2-8E08-F1C74326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48 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D9E6B-B687-481B-819F-AE1724E1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66925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6A71C-8288-4C48-A221-8A9A7B1F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48 日执行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264CD-E575-4E62-804F-15AEBC9B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3D1F5-ADD0-4B96-B9D7-768A280A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FA0EB-C379-4BC1-9A93-61FF7936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241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D14048-160B-40DE-822E-52E5348F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72 场景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6141F6-D212-4089-9E7E-E221E29E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4125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A542C-189C-48BA-877B-D9E7D0DC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144 逻辑路径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BBB871-8018-4F32-B8F6-2DE0FD26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24125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60D7D7-43AD-463C-A480-E76755E8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102 控制执行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51F034-F112-4DC2-8D21-D958ED6D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B1B9B7-2DEB-431D-8430-62450DC6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E31F7C-01F2-4153-A1DD-86F39E25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813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D8D6F4-0641-4852-83FA-BE8A7653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39 场景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CAC6BB-787D-4944-B210-410496E8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81325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D4C52F-2CEB-4436-940B-B31F1FD3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78 路径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E31CB6-0EDB-4D33-8478-685DAA0C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81325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F7ECBF-8A1B-4C02-9AB2-B0B6D085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78 日执行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1A872C-AE28-4D6D-9FC0-98B1A008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A8333A-00AD-46CA-8C74-D7889AEF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831D9E-EBF4-493A-A845-875E6782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385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B8D63C-C64A-4C65-AB1B-C27CC31A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62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88 scenario-days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04DB23-ABBE-4799-9C06-79F7082C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38525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2E1AD0-7B20-44FF-BD8A-98AD0005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62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12 多日路径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AFDA11-9AFE-423A-A0D6-038357C4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38525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70186E-4F8C-4666-B4D5-D7088BC0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176 日执行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4F2D5B-D575-4429-B6C7-733DF87F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605DB4-3638-4964-9682-274DFF2C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D0FBE8-9212-424F-8044-A6E4CA65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957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A29FC7-6FF0-4F59-87F0-7070BFA2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19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192 samples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C026FB-C867-4057-B917-6876024A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95725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E1D7D1-5AF2-4D18-A18E-C31D0D82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95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384 + 6 anchors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89D2F1-670F-4CE1-928A-1E45948C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95725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B37A94-8534-43D9-BE7A-1F94E689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390 日执行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5E94B5-6CAB-4987-A50A-C5979FD5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1BB6ED-AE66-4F5C-99F7-AC1A6899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389C5A-FD31-4A6E-93F6-69D49CA3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529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96597D-1909-4560-B65F-7B6C800A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420 scenario-days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4E75C7-9A05-4434-A308-9A9194CC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52925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747881-98E2-4D58-BE33-057DACD4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120 + 6 七日路径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9C7F82B-DAD0-470D-A2B7-F5DC55E7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52925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E85C89-E2D1-4B79-B336-1394E836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882 日执行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60E63A-5664-4E23-B7F3-A97DDB39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B4 仅复用已完成轨迹做 accounting sensitivity；F 的 126 条七日路径底层是 882 次日执行。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252E53-E646-4759-92B6-C7F9A3C1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A–F validation consolidation · frozen control / reporting evidence only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96DC26-C638-4F76-8B9C-6E0C5289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2B4A"/>
                </a:solidFill>
              </a:defRPr>
            </a:pPr>
            <a:r>
              <a:rPr sz="900" b="1">
                <a:solidFill>
                  <a:srgbClr val="0B2B4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20311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1D6C44-81E1-436C-B5D6-B2D028C7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AA"/>
                </a:solidFill>
              </a:defRPr>
            </a:pPr>
            <a:r>
              <a:rPr sz="975" b="1">
                <a:solidFill>
                  <a:srgbClr val="1769AA"/>
                </a:solidFill>
              </a:rPr>
              <a:t>RESIDENTIAL EMS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1D0BE-3C07-4BC8-999A-FED9B6EE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2B4A"/>
                </a:solidFill>
              </a:defRPr>
            </a:pPr>
            <a:r>
              <a:rPr sz="2325" b="1">
                <a:solidFill>
                  <a:srgbClr val="0B2B4A"/>
                </a:solidFill>
              </a:rPr>
              <a:t>权威事实链：Forecast 只进入 planning；realized 与 Simulator actual 决定执行和结算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926A5-48BF-4C0E-BDD1-F65D92CF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E5"/>
          </a:solidFill>
          <a:ln xmlns:a="http://schemas.openxmlformats.org/drawingml/2006/main" w="0">
            <a:solidFill>
              <a:srgbClr val="5BB6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46EAC-92CC-49D9-BD81-E1827559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1476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BCD7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D6B48-0C32-48FF-9AE5-3860C0F9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241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2B4A"/>
                </a:solidFill>
              </a:defRPr>
            </a:pPr>
            <a:r>
              <a:rPr sz="1275" b="1">
                <a:solidFill>
                  <a:srgbClr val="0B2B4A"/>
                </a:solidFill>
              </a:rPr>
              <a:t>Forecast 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CD0EC-4A56-4F6B-9EE8-8E05BF19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7717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B5DFF-6DDC-48AF-A274-17D80B3F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24125"/>
            <a:ext cx="1476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BCD7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6A3B5-C4D1-4C24-8CBA-E3EFC64A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241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2B4A"/>
                </a:solidFill>
              </a:defRPr>
            </a:pPr>
            <a:r>
              <a:rPr sz="1275" b="1">
                <a:solidFill>
                  <a:srgbClr val="0B2B4A"/>
                </a:solidFill>
              </a:rPr>
              <a:t>Frozen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7C4ED-F67F-41CF-8C2E-2386CA54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717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2B5FA-AE48-4EBE-82C8-3D0D69DC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24125"/>
            <a:ext cx="1476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BCD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29E1B-D1DF-410F-AFE6-C57698AE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241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2B4A"/>
                </a:solidFill>
              </a:defRPr>
            </a:pPr>
            <a:r>
              <a:rPr sz="1275" b="1">
                <a:solidFill>
                  <a:srgbClr val="0B2B4A"/>
                </a:solidFill>
              </a:rPr>
              <a:t>Feasibility / Actuation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830F0-53B2-41F2-AC68-B15C8B98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7717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4A804-0477-42A0-B8C1-F5DCE5E7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1476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FFB"/>
          </a:solidFill>
          <a:ln xmlns:a="http://schemas.openxmlformats.org/drawingml/2006/main" w="9525">
            <a:solidFill>
              <a:srgbClr val="BCD7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2CA92-7D4F-4004-B320-EC94AFA8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2B4A"/>
                </a:solidFill>
              </a:defRPr>
            </a:pPr>
            <a:r>
              <a:rPr sz="1275" b="1">
                <a:solidFill>
                  <a:srgbClr val="0B2B4A"/>
                </a:solidFill>
              </a:rPr>
              <a:t>Simulator actual 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7999D-B919-45AD-AEF1-BEFF3486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717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6450B-E538-408B-AFE3-1ADF555B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1476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BCD7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34275-DE20-420A-8775-815C0F62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241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2B4A"/>
                </a:solidFill>
              </a:defRPr>
            </a:pPr>
            <a:r>
              <a:rPr sz="1275" b="1">
                <a:solidFill>
                  <a:srgbClr val="0B2B4A"/>
                </a:solidFill>
              </a:rPr>
              <a:t>Ledger / comparison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FC076-9C1F-4D51-BB01-5D05AEFF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717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26285-91FA-40EF-8863-18D8E4A7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24125"/>
            <a:ext cx="1476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BCD7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12695-D36E-42D5-9E77-49F5D0C8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241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2B4A"/>
                </a:solidFill>
              </a:defRPr>
            </a:pPr>
            <a:r>
              <a:rPr sz="1275" b="1">
                <a:solidFill>
                  <a:srgbClr val="0B2B4A"/>
                </a:solidFill>
              </a:rPr>
              <a:t>Evidence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23B9C-7746-4639-BF33-4CF30C5B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A"/>
                </a:solidFill>
              </a:defRPr>
            </a:pPr>
            <a:r>
              <a:rPr sz="1800" b="1">
                <a:solidFill>
                  <a:srgbClr val="0B2B4A"/>
                </a:solidFill>
              </a:rPr>
              <a:t>planned power ≠ actual executed power。actual battery/grid power 与 final SOC 读取 Simulator state，不由报告反推。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8C733-80A4-44F9-906A-30A4DDE8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A–F validation consolidation · frozen control / reporting evidence 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1E7312-A6D9-4084-921F-3731FFCC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2B4A"/>
                </a:solidFill>
              </a:defRPr>
            </a:pPr>
            <a:r>
              <a:rPr sz="900" b="1">
                <a:solidFill>
                  <a:srgbClr val="0B2B4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9327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F62B2-104B-4BF1-8560-0C0410E5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AA"/>
                </a:solidFill>
              </a:defRPr>
            </a:pPr>
            <a:r>
              <a:rPr sz="975" b="1">
                <a:solidFill>
                  <a:srgbClr val="1769AA"/>
                </a:solidFill>
              </a:rPr>
              <a:t>RESIDENTIAL EMS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7005B-64B4-479A-8CC5-8F9D7001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2B4A"/>
                </a:solidFill>
              </a:defRPr>
            </a:pPr>
            <a:r>
              <a:rPr sz="2325" b="1">
                <a:solidFill>
                  <a:srgbClr val="0B2B4A"/>
                </a:solidFill>
              </a:rPr>
              <a:t>多日 SOC 与会计：Strategy 独立 carry，terminal stock 只在路径末端计一次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E710C-A6EF-45FC-804C-2411CD93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E5"/>
          </a:solidFill>
          <a:ln xmlns:a="http://schemas.openxmlformats.org/drawingml/2006/main" w="0">
            <a:solidFill>
              <a:srgbClr val="5BB6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6B00B-718D-4D59-BD4E-CFA6C8AB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667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BE5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E4E2E-3EAE-4E33-9CD2-FB39E9B3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69AA"/>
                </a:solidFill>
              </a:defRPr>
            </a:pPr>
            <a:r>
              <a:rPr sz="1800" b="1">
                <a:solidFill>
                  <a:srgbClr val="1769AA"/>
                </a:solidFill>
              </a:rPr>
              <a:t>SOC continuity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44BED-A956-4A33-BE75-EB934EA6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FA351-ABE8-4A3F-B2A3-EEAB7362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24125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两条 Strategy 各自 carry 上一日 actual SOC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96A8D-DAE5-4C88-97C1-C4A64B02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4C624-7348-40DE-B269-6E27FD95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47975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forecast SOC 不可替代下一日 actual 初值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7AF93-EB05-40EE-8813-78358135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F878D-78DC-4A15-AD9A-18909A65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71825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D：88 scenario-days / 176 日执行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CF885-61B2-49DC-BBC9-0494A9FF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667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1C52A-9DDF-4405-8A81-A89058D7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Flow + stock accounting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CF031-05FD-47D9-AFDD-78C25047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45A38-6307-42A2-BEAC-231E6F90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24125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import / export / degradation 为可累加 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746C8-99BE-4E9F-9B7C-37B6D552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479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E7230-2ABE-4983-B878-6DAF9388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47975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terminal value 仅按最终 actual SOC 计一次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6B295-3810-4CC3-810D-BB877F10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718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6CCA1-0121-4A9C-9F14-BA42F3F8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71825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同一终端储能资产不得重复计价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243E7-8691-409C-80B0-819134B0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A–F validation consolidation · frozen control / reporting evidence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EFC83-D468-49BA-9649-E9371E1B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2B4A"/>
                </a:solidFill>
              </a:defRPr>
            </a:pPr>
            <a:r>
              <a:rPr sz="900" b="1">
                <a:solidFill>
                  <a:srgbClr val="0B2B4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1622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75A000-4159-44D1-8099-BB89510E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AA"/>
                </a:solidFill>
              </a:defRPr>
            </a:pPr>
            <a:r>
              <a:rPr sz="975" b="1">
                <a:solidFill>
                  <a:srgbClr val="1769AA"/>
                </a:solidFill>
              </a:rPr>
              <a:t>RESIDENTIAL EMS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53780-A885-4B65-B83F-56744849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2B4A"/>
                </a:solidFill>
              </a:defRPr>
            </a:pPr>
            <a:r>
              <a:rPr sz="2700" b="1">
                <a:solidFill>
                  <a:srgbClr val="0B2B4A"/>
                </a:solidFill>
              </a:rPr>
              <a:t>C/E/F 将误差实验与公平比较分层：不把合成样本说成现实概率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312CF-1E7A-4F7F-AC5C-5F3D93C5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E5"/>
          </a:solidFill>
          <a:ln xmlns:a="http://schemas.openxmlformats.org/drawingml/2006/main" w="0">
            <a:solidFill>
              <a:srgbClr val="5BB6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D549B-FCA6-4C7E-880E-F9135766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BE5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696C4-61BA-4A05-972C-71FD7B01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DF0F1-B8C5-423D-9207-EA8D604B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918A0-E3E1-442F-880C-E4376FEC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5241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13 个显式误差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56AC5-C5C1-49D2-8672-87D8A5B4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479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6FB08-159A-4309-9AFA-94B12D99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479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39 场景 / 78 fresh 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3A343-6E76-4A67-8BDE-0C843D2F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718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DA385-30A4-42CD-A335-3B8E0B5B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1718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actual-power divergence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4E01A-1D94-44EC-90BE-625F6691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3"/>
          </a:solidFill>
          <a:ln xmlns:a="http://schemas.openxmlformats.org/drawingml/2006/main" w="9525">
            <a:solidFill>
              <a:srgbClr val="B7E1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CF576-1F63-44F8-84C0-AF39326C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68C46-6F00-4337-89E8-4A183574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41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E5A7A-C7C7-465E-B836-C179CB56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241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fixed seed 20260817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51E50-FDD9-4754-BDD0-F0619400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479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DDCA7-F513-4B62-BCEF-02E3BEF5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479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CRN：同 forecast、公平比较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6FBF8-B6C5-455C-AAA4-A123134E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718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9EF23-EE56-478E-AB91-28351047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718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192 samples / 390 executions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85EBE-7686-48EF-8F74-DCB26E1A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192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87798F-5998-4C72-B067-D57E7D5A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97706"/>
                </a:solidFill>
              </a:defRPr>
            </a:pPr>
            <a:r>
              <a:rPr sz="2550" b="1">
                <a:solidFill>
                  <a:srgbClr val="D97706"/>
                </a:solidFill>
              </a:rPr>
              <a:t>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C618F-5F28-4061-B035-75153321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241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91B2FC-FDE1-4213-827F-D025C5E3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241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Cholesky correlation + AR(1)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8675F9-3EC5-44E8-9F59-F218389F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479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A7C08-7687-4C79-A37B-4BC79FBA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479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core/tail isolation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91EA0A-C926-4AEC-A00D-5E6018D7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718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C1F258-139F-4C81-A2CE-E0E9033E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1718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60 scenarios / 882 daily executions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750CD9-5B19-4149-8703-77DD3E16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E/F 是可复现的 synthetic descriptive validation，不是现场概率分布、置信水平或可靠性认证。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291BB7-80E4-473C-BBF1-359EBE9F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A–F validation consolidation · frozen control / reporting evidence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7CD2B0-3CCD-4A00-BD43-FACAFBFF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2B4A"/>
                </a:solidFill>
              </a:defRPr>
            </a:pPr>
            <a:r>
              <a:rPr sz="900" b="1">
                <a:solidFill>
                  <a:srgbClr val="0B2B4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88098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98373-F53C-43DA-BAC1-1FDABD19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AA"/>
                </a:solidFill>
              </a:defRPr>
            </a:pPr>
            <a:r>
              <a:rPr sz="975" b="1">
                <a:solidFill>
                  <a:srgbClr val="1769AA"/>
                </a:solidFill>
              </a:rPr>
              <a:t>RESIDENTIAL EMS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392EB-7569-4B5F-B6B4-E45DA2F2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2B4A"/>
                </a:solidFill>
              </a:defRPr>
            </a:pPr>
            <a:r>
              <a:rPr sz="2700" b="1">
                <a:solidFill>
                  <a:srgbClr val="0B2B4A"/>
                </a:solidFill>
              </a:rPr>
              <a:t>A–F 的总体结果：控制链保持冻结，证据链已能闭合与审计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34025-CF03-4D13-9058-1F5DFE06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E5"/>
          </a:solidFill>
          <a:ln xmlns:a="http://schemas.openxmlformats.org/drawingml/2006/main" w="0">
            <a:solidFill>
              <a:srgbClr val="5BB6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47C07-7C5F-40C1-9280-D4446853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2B4A"/>
                </a:solidFill>
              </a:defRPr>
            </a:pPr>
            <a:r>
              <a:rPr sz="3000" b="1">
                <a:solidFill>
                  <a:srgbClr val="0B2B4A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17CBD-6E52-4CA3-92F1-47A5BA54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A：完整冻结基准路径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49FCD-C81E-431B-89B5-9939EC96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6687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2B4A"/>
                </a:solidFill>
              </a:defRPr>
            </a:pPr>
            <a:r>
              <a:rPr sz="3000" b="1">
                <a:solidFill>
                  <a:srgbClr val="0B2B4A"/>
                </a:solidFill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CCEFB-1322-4FB7-9565-470E3582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193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B：唯一控制执行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121D1-1196-4E89-BE4A-1BB68173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2B4A"/>
                </a:solidFill>
              </a:defRPr>
            </a:pPr>
            <a:r>
              <a:rPr sz="3000" b="1">
                <a:solidFill>
                  <a:srgbClr val="0B2B4A"/>
                </a:solidFill>
              </a:rPr>
              <a:t>390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5DC24-456D-4B38-9AA6-FB924326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193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E：实际日执行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31F76-967D-432F-B32F-93691725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2B4A"/>
                </a:solidFill>
              </a:defRPr>
            </a:pPr>
            <a:r>
              <a:rPr sz="3000" b="1">
                <a:solidFill>
                  <a:srgbClr val="0B2B4A"/>
                </a:solidFill>
              </a:rPr>
              <a:t>882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F9F76-81FE-4975-9FCB-03272111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193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F：日执行 / 908 evidence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AB5AC-2E18-4250-9EF5-5A0937CA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43250"/>
            <a:ext cx="1057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BE5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964C0-F155-4BED-B5D0-46ACE0DC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最重要的工程成果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9C1B4-46FB-4C7D-A594-39881F40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7667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B4A"/>
                </a:solidFill>
              </a:defRPr>
            </a:pPr>
            <a:r>
              <a:rPr sz="1800" b="1">
                <a:solidFill>
                  <a:srgbClr val="0B2B4A"/>
                </a:solidFill>
              </a:rPr>
              <a:t>不是“某一次曲线很好看”，而是 planning、actual execution、SOC carry、ledger、comparison 和 publication evidence 能逐层对上。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CE330-0787-48E7-B0DA-309F2B13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A–F validation consolidation · frozen control / reporting evidence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B8C91-810A-45D4-AD0C-C4587882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2B4A"/>
                </a:solidFill>
              </a:defRPr>
            </a:pPr>
            <a:r>
              <a:rPr sz="900" b="1">
                <a:solidFill>
                  <a:srgbClr val="0B2B4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823605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4EA4F-43B3-47FC-B57B-3DF301A9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AA"/>
                </a:solidFill>
              </a:defRPr>
            </a:pPr>
            <a:r>
              <a:rPr sz="975" b="1">
                <a:solidFill>
                  <a:srgbClr val="1769AA"/>
                </a:solidFill>
              </a:rPr>
              <a:t>TYPICAL REALIZED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F1D82-EB60-4870-B109-5E811C7F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2B4A"/>
                </a:solidFill>
              </a:defRPr>
            </a:pPr>
            <a:r>
              <a:rPr sz="2700" b="1">
                <a:solidFill>
                  <a:srgbClr val="0B2B4A"/>
                </a:solidFill>
              </a:rPr>
              <a:t>Reference：标准住宅日中，电池在光伏窗口充电、晚间放电，SOC 回到下限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EB99B-0412-4228-9317-559D4011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E5"/>
          </a:solidFill>
          <a:ln xmlns:a="http://schemas.openxmlformats.org/drawingml/2006/main" w="0">
            <a:solidFill>
              <a:srgbClr val="5BB6E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0afdb1bbc4f81">
            <a:extLst>
              <a:ext uri="{96DAC541-7B7A-43D3-8B79-37D633B846F1}">
                <asvg:svgBlip xmlns:asvg="http://schemas.microsoft.com/office/drawing/2016/SVG/main" r:embed="R2fff9e5891e04d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3875" y="1619250"/>
            <a:ext cx="1114425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38D79-D1B1-4BDA-8B7B-03944887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Schedule 与 Economic 独立执行后曲线完全重叠；这表示当前事实下 economic gate 没有不必要地改变控制。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DD685-9583-488A-AAF8-A48159FC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A–F validation consolidation · frozen control / reporting evidence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FB04A-93FE-45BA-B2DA-96CE8BA3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2B4A"/>
                </a:solidFill>
              </a:defRPr>
            </a:pPr>
            <a:r>
              <a:rPr sz="900" b="1">
                <a:solidFill>
                  <a:srgbClr val="0B2B4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246480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2021E-64FD-4CDC-B185-8BB9749C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AA"/>
                </a:solidFill>
              </a:defRPr>
            </a:pPr>
            <a:r>
              <a:rPr sz="975" b="1">
                <a:solidFill>
                  <a:srgbClr val="1769AA"/>
                </a:solidFill>
              </a:rPr>
              <a:t>TYPICAL REALIZED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FD7AF-4382-4605-AA91-0F3010E9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2B4A"/>
                </a:solidFill>
              </a:defRPr>
            </a:pPr>
            <a:r>
              <a:rPr sz="2700" b="1">
                <a:solidFill>
                  <a:srgbClr val="0B2B4A"/>
                </a:solidFill>
              </a:rPr>
              <a:t>High PV：午间富余提升充电与上网，SOC 仍受实际物理边界约束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DCB4D-6145-4B69-AB46-1534D48A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E5"/>
          </a:solidFill>
          <a:ln xmlns:a="http://schemas.openxmlformats.org/drawingml/2006/main" w="0">
            <a:solidFill>
              <a:srgbClr val="5BB6E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08d02e591448e">
            <a:extLst>
              <a:ext uri="{96DAC541-7B7A-43D3-8B79-37D633B846F1}">
                <asvg:svgBlip xmlns:asvg="http://schemas.microsoft.com/office/drawing/2016/SVG/main" r:embed="Rcdfc80618a5546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3875" y="1619250"/>
            <a:ext cx="1114425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7A174-F13D-4FEA-A2A7-E26982EB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真实 PV 能量 21.45 kWh；电网出口升至 8.44 kWh，说明“可用光伏”与“可吸收光伏”不是同一件事。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DD70C-3849-4409-92D4-438B868E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A–F validation consolidation · frozen control / reporting evidence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0B752-322E-4D48-BB62-8C5A810A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2B4A"/>
                </a:solidFill>
              </a:defRPr>
            </a:pPr>
            <a:r>
              <a:rPr sz="900" b="1">
                <a:solidFill>
                  <a:srgbClr val="0B2B4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0580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EB7C4-71CC-429F-AA9F-C1AB59AE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AA"/>
                </a:solidFill>
              </a:defRPr>
            </a:pPr>
            <a:r>
              <a:rPr sz="975" b="1">
                <a:solidFill>
                  <a:srgbClr val="1769AA"/>
                </a:solidFill>
              </a:rPr>
              <a:t>TYPICAL REALIZED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5DD68-7898-4B28-B162-1F5CE38F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2B4A"/>
                </a:solidFill>
              </a:defRPr>
            </a:pPr>
            <a:r>
              <a:rPr sz="2700" b="1">
                <a:solidFill>
                  <a:srgbClr val="0B2B4A"/>
                </a:solidFill>
              </a:rPr>
              <a:t>High evening load：晚高峰触发更强的实际放电，电网购电仍是执行事实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CD75B-04F4-456F-B1A7-13EBF5D8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E5"/>
          </a:solidFill>
          <a:ln xmlns:a="http://schemas.openxmlformats.org/drawingml/2006/main" w="0">
            <a:solidFill>
              <a:srgbClr val="5BB6E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3de84e2aa46b5">
            <a:extLst>
              <a:ext uri="{96DAC541-7B7A-43D3-8B79-37D633B846F1}">
                <asvg:svgBlip xmlns:asvg="http://schemas.microsoft.com/office/drawing/2016/SVG/main" r:embed="R089422ce76874f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3875" y="1619250"/>
            <a:ext cx="1114425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1CB3F-A024-4023-90D7-A69525BD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真实负载能量 34.30 kWh；峰值电池放电 -3.00 kW，购电峰值 3.60 kW。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9DE4C-5CB8-414D-9562-B880CDA9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A–F validation consolidation · frozen control / reporting evidence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3507B-A062-4937-885F-795963B5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2B4A"/>
                </a:solidFill>
              </a:defRPr>
            </a:pPr>
            <a:r>
              <a:rPr sz="900" b="1">
                <a:solidFill>
                  <a:srgbClr val="0B2B4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00942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29EAF-DE53-47B8-916E-CFDEAEF8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AA"/>
                </a:solidFill>
              </a:defRPr>
            </a:pPr>
            <a:r>
              <a:rPr sz="975" b="1">
                <a:solidFill>
                  <a:srgbClr val="1769AA"/>
                </a:solidFill>
              </a:rPr>
              <a:t>RESIDENTIAL EMS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573B8-B2E0-4FC6-A70A-238A78F4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2B4A"/>
                </a:solidFill>
              </a:defRPr>
            </a:pPr>
            <a:r>
              <a:rPr sz="2700" b="1">
                <a:solidFill>
                  <a:srgbClr val="0B2B4A"/>
                </a:solidFill>
              </a:rPr>
              <a:t>三类典型日：光伏、负载与电网能量差异由真实 Simulator trace 给出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DF921-1DD6-41A0-9D81-4A5DE6AC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E5"/>
          </a:solidFill>
          <a:ln xmlns:a="http://schemas.openxmlformats.org/drawingml/2006/main" w="0">
            <a:solidFill>
              <a:srgbClr val="5BB6E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fff7a3a82425f">
            <a:extLst>
              <a:ext uri="{96DAC541-7B7A-43D3-8B79-37D633B846F1}">
                <asvg:svgBlip xmlns:asvg="http://schemas.microsoft.com/office/drawing/2016/SVG/main" r:embed="Rdd41c933962a47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9125" y="1428750"/>
            <a:ext cx="1095375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CA468-2540-49AB-BF46-A6F8A908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722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三种场景的 Schedule/Economic 排名均为 TIED，最大 actual battery-power 差均为 0 kW。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66704-E8E4-4FE1-89DA-CDC2F2B5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A–F validation consolidation · frozen control / reporting evidence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C132D-D247-4481-B4B5-689C2CE1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2B4A"/>
                </a:solidFill>
              </a:defRPr>
            </a:pPr>
            <a:r>
              <a:rPr sz="900" b="1">
                <a:solidFill>
                  <a:srgbClr val="0B2B4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683908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5ED102-9B6B-4729-910F-CDBC3D35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AA"/>
                </a:solidFill>
              </a:defRPr>
            </a:pPr>
            <a:r>
              <a:rPr sz="975" b="1">
                <a:solidFill>
                  <a:srgbClr val="1769AA"/>
                </a:solidFill>
              </a:rPr>
              <a:t>RESIDENTIAL EMS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83321-6BB9-455E-A2F5-0F3000D6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2B4A"/>
                </a:solidFill>
              </a:defRPr>
            </a:pPr>
            <a:r>
              <a:rPr sz="2700" b="1">
                <a:solidFill>
                  <a:srgbClr val="0B2B4A"/>
                </a:solidFill>
              </a:rPr>
              <a:t>正确理解 Strategy 比较：TIED 不等于策略无价值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64783-CDBC-429F-87B1-04825994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E5"/>
          </a:solidFill>
          <a:ln xmlns:a="http://schemas.openxmlformats.org/drawingml/2006/main" w="0">
            <a:solidFill>
              <a:srgbClr val="5BB6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F3C76-FBA9-4128-B6A0-E879DA82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762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BE5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F3229-65CA-4431-9014-2CADB891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69AA"/>
                </a:solidFill>
              </a:defRPr>
            </a:pPr>
            <a:r>
              <a:rPr sz="1725" b="1">
                <a:solidFill>
                  <a:srgbClr val="1769AA"/>
                </a:solidFill>
              </a:rPr>
              <a:t>这三个典型日的事实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97A76-A018-45D9-8891-687459CB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69AA"/>
                </a:solidFill>
              </a:defRPr>
            </a:pPr>
            <a:r>
              <a:rPr sz="1425" b="1">
                <a:solidFill>
                  <a:srgbClr val="1769AA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705D0-CE53-4A40-8EBB-F5C5C074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765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6 条 trajectory 对象独立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E4FD7-22D0-431A-8015-760844CA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69AA"/>
                </a:solidFill>
              </a:defRPr>
            </a:pPr>
            <a:r>
              <a:rPr sz="1425" b="1">
                <a:solidFill>
                  <a:srgbClr val="1769A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ED87B-0694-4C20-ACA0-C6048332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98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相同外生事实进入两条路径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99424-522E-4198-B134-42010B43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69AA"/>
                </a:solidFill>
              </a:defRPr>
            </a:pPr>
            <a:r>
              <a:rPr sz="1425" b="1">
                <a:solidFill>
                  <a:srgbClr val="1769A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36B29-BF59-42D9-AE60-A53185D9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144 hourly records 全部对比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7C9FA-A80D-4A11-9E9C-EA76B071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69AA"/>
                </a:solidFill>
              </a:defRPr>
            </a:pPr>
            <a:r>
              <a:rPr sz="1425" b="1">
                <a:solidFill>
                  <a:srgbClr val="1769A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35987-5EAC-42CC-8F3E-4BEC82D2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766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最大 actual battery-power 差：0 kW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54B81-C143-467B-842A-88D36EBF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762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AF5BF-7E73-4FC6-A259-D4F66D78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7706"/>
                </a:solidFill>
              </a:defRPr>
            </a:pPr>
            <a:r>
              <a:rPr sz="1725" b="1">
                <a:solidFill>
                  <a:srgbClr val="D97706"/>
                </a:solidFill>
              </a:rPr>
              <a:t>应得出的结论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A5B63-E932-4356-8AC3-72350A80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7706"/>
                </a:solidFill>
              </a:defRPr>
            </a:pPr>
            <a:r>
              <a:rPr sz="1425" b="1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B6236-86D3-4BA0-8EE0-02F3F110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765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Economic 未压制已经济支持的 Schedule 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D8FA9-1153-4B7A-9FA2-ACA45EE5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7706"/>
                </a:solidFill>
              </a:defRPr>
            </a:pPr>
            <a:r>
              <a:rPr sz="1425" b="1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B3FF1-2456-4309-8BD8-321D655F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98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TIED 是冻结比较语义下的有效结果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090A64-6BAD-488E-BE4C-021B576F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7706"/>
                </a:solidFill>
              </a:defRPr>
            </a:pPr>
            <a:r>
              <a:rPr sz="1425" b="1">
                <a:solidFill>
                  <a:srgbClr val="D97706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E98E3-D512-4AAC-811B-F9584EC4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不能据此宣称所有场景或未来现场都相同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4653CE-73DF-4A60-A4B3-41169163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A–F validation consolidation · frozen control / reporting evidence 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E77D2-98FD-445F-8607-0E328258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2B4A"/>
                </a:solidFill>
              </a:defRPr>
            </a:pPr>
            <a:r>
              <a:rPr sz="900" b="1">
                <a:solidFill>
                  <a:srgbClr val="0B2B4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989729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E8375-B797-491E-A554-83F145E0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AA"/>
                </a:solidFill>
              </a:defRPr>
            </a:pPr>
            <a:r>
              <a:rPr sz="975" b="1">
                <a:solidFill>
                  <a:srgbClr val="1769AA"/>
                </a:solidFill>
              </a:rPr>
              <a:t>RESIDENTIAL EMS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41436-9DC8-4C9F-8648-71825CB8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2B4A"/>
                </a:solidFill>
              </a:defRPr>
            </a:pPr>
            <a:r>
              <a:rPr sz="2325" b="1">
                <a:solidFill>
                  <a:srgbClr val="0B2B4A"/>
                </a:solidFill>
              </a:rPr>
              <a:t>Fail-closed publication gate：控制的是证据能否发布，不控制设备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8A97D-4D08-4F59-8FBE-D8A904DE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E5"/>
          </a:solidFill>
          <a:ln xmlns:a="http://schemas.openxmlformats.org/drawingml/2006/main" w="0">
            <a:solidFill>
              <a:srgbClr val="5BB6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4F5FA-2A09-400B-828C-2B135C1B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52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BE5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E572C-BEA4-4916-8B1B-2F56F9EA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Semantic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0A1D0-989C-4861-8B78-6DE5F5DA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38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69AA"/>
                </a:solidFill>
              </a:defRPr>
            </a:pPr>
            <a:r>
              <a:rPr sz="180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BCC20-9D4E-4E78-93A5-4A4AB561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71750"/>
            <a:ext cx="152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BE5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F0AD4-ED62-43EF-B377-BEAD3733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7177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Non-final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artifact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EC187-E172-49D9-B56F-20BB98D8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38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69AA"/>
                </a:solidFill>
              </a:defRPr>
            </a:pPr>
            <a:r>
              <a:rPr sz="180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CD356-03EA-43C5-B576-C44DF956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152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BE5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7B504-F3B9-4A71-9894-FECD7FB9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7177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Finalization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70409-8BFF-4907-9376-BA1B58D2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69AA"/>
                </a:solidFill>
              </a:defRPr>
            </a:pPr>
            <a:r>
              <a:rPr sz="180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7458B-E95F-42F9-9E63-19A392FB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71750"/>
            <a:ext cx="152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BE5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D8064-4135-497A-8066-D05EBBE6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7177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Final-artifact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2B4A"/>
                </a:solidFill>
              </a:defRPr>
            </a:pPr>
            <a:r>
              <a:rPr sz="1350" b="1">
                <a:solidFill>
                  <a:srgbClr val="0B2B4A"/>
                </a:solidFill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7C107-641D-4BEE-A542-947EC1A5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38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69AA"/>
                </a:solidFill>
              </a:defRPr>
            </a:pPr>
            <a:r>
              <a:rPr sz="180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2E63E-0635-47D3-ABCD-56705C34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152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E4032-4C48-4F0E-A341-DD98B39B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7177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C31A4-933F-4715-8F98-BD511F04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B4A"/>
                </a:solidFill>
              </a:defRPr>
            </a:pPr>
            <a:r>
              <a:rPr sz="1650" b="1">
                <a:solidFill>
                  <a:srgbClr val="0B2B4A"/>
                </a:solidFill>
              </a:rPr>
              <a:t>F 的最终门禁检查 summary、CSV/SVG topology 与 retained trace 的一致性；失败产生 diagnostic evidence，绝不重跑或改变决策。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CCD6E-99CA-4174-9105-C0C1EED2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A–F validation consolidation · frozen control / reporting evidence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624CA-B76C-4420-8FD4-4EDC9B7D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2B4A"/>
                </a:solidFill>
              </a:defRPr>
            </a:pPr>
            <a:r>
              <a:rPr sz="900" b="1">
                <a:solidFill>
                  <a:srgbClr val="0B2B4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531215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02AB44-77D2-4C1C-A07F-9DDF0731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AA"/>
                </a:solidFill>
              </a:defRPr>
            </a:pPr>
            <a:r>
              <a:rPr sz="975" b="1">
                <a:solidFill>
                  <a:srgbClr val="1769AA"/>
                </a:solidFill>
              </a:rPr>
              <a:t>RESIDENTIAL EMS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12B63-81DA-44D8-95DF-55F5F191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2B4A"/>
                </a:solidFill>
              </a:defRPr>
            </a:pPr>
            <a:r>
              <a:rPr sz="2700" b="1">
                <a:solidFill>
                  <a:srgbClr val="0B2B4A"/>
                </a:solidFill>
              </a:rPr>
              <a:t>已证明 / 尚未证明：软件验证与产品就绪之间仍有清晰边界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3DB49-F88E-45E1-94A9-8AF9B3AC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E5"/>
          </a:solidFill>
          <a:ln xmlns:a="http://schemas.openxmlformats.org/drawingml/2006/main" w="0">
            <a:solidFill>
              <a:srgbClr val="5BB6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ABE77-6E56-4D87-8DE8-A0C2B5DE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9530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3"/>
          </a:solidFill>
          <a:ln xmlns:a="http://schemas.openxmlformats.org/drawingml/2006/main" w="9525">
            <a:solidFill>
              <a:srgbClr val="B7E1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10BA9-23DC-47DC-B238-A7DAB83A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已证明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11F77-2EA2-4401-B4A0-707C092F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EBC87-4763-4468-AB56-517F9D2E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2887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冻结控制链可重复执行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EDE57-EF88-476F-93ED-4985F850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0DABB-DB04-491B-9D5E-D8C2ECCC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7177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actual state / ledger / evidence 可追溯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67C28-9C2F-4C1D-A4BA-0E2EC2AB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FC539-6E73-409F-9E2B-59742F28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1467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多日 SOC 与 terminal-once accounting 可核验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1AB8F-5F6E-49E9-9E06-76496530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575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38254-A38A-49CE-B908-8FF52EA9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5757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合成误差下的行为与 evidence contract 可审计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BCF95-6306-43D5-8A26-63936D23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9530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E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36C4A-8561-46BF-B37D-31FFB1E4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24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尚未证明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F0EF3-C7FA-4457-BD7D-3D21C243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288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68EC3-B509-45A8-8BB3-BA02254B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2887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真实预测概率与现场分布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AB3DD-7B33-4718-80BC-7919FA84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717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90900-7B73-4CC3-8961-5E594257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7177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HIL、设备接口、PCS/BMS/DSP 通信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B5080-ADAC-415E-86BE-D1BFD8DE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146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5720D-4FE6-4DCD-BE87-0B504035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1467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故障恢复与实时调度安全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166424-47F3-4832-9AAC-B3039A2A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575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ACC70-625D-4E18-82A8-C622D1F0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5757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硬件/现场/客户部署就绪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17F196-DC1F-4F26-B87F-10997443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A–F validation consolidation · frozen control / reporting evidence 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043205-6F44-494C-8A05-7A3CCA41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2B4A"/>
                </a:solidFill>
              </a:defRPr>
            </a:pPr>
            <a:r>
              <a:rPr sz="900" b="1">
                <a:solidFill>
                  <a:srgbClr val="0B2B4A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645909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B0F6E-464C-40EE-987C-3A1BD495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69AA"/>
                </a:solidFill>
              </a:defRPr>
            </a:pPr>
            <a:r>
              <a:rPr sz="975" b="1">
                <a:solidFill>
                  <a:srgbClr val="1769AA"/>
                </a:solidFill>
              </a:rPr>
              <a:t>RESIDENTIAL EMS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C438F-4081-46E4-AA4C-450A7923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2B4A"/>
                </a:solidFill>
              </a:defRPr>
            </a:pPr>
            <a:r>
              <a:rPr sz="2700" b="1">
                <a:solidFill>
                  <a:srgbClr val="0B2B4A"/>
                </a:solidFill>
              </a:rPr>
              <a:t>下一阶段投入：停止 Campaign G，转向 HIL、真实数据与产品化证据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29088-9249-487D-AB0E-0250C38C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6E5"/>
          </a:solidFill>
          <a:ln xmlns:a="http://schemas.openxmlformats.org/drawingml/2006/main" w="0">
            <a:solidFill>
              <a:srgbClr val="5BB6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B44F6-33A4-4ABF-A704-0F6594BF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1057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BE5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DBD55-D374-40BB-AA7A-E319EF31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C2626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83377-E15A-4D54-A5EA-EF600010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8117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2B4A"/>
                </a:solidFill>
              </a:defRPr>
            </a:pPr>
            <a:r>
              <a:rPr sz="1575" b="1">
                <a:solidFill>
                  <a:srgbClr val="0B2B4A"/>
                </a:solidFill>
              </a:rPr>
              <a:t>真实设备接口 / HIL / PCS-BMS 通信与安全边界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DCBF7-5321-43B3-A8C9-3546B83F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057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BE5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A33D9-3FF1-4665-968B-F26E30F6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P1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6F123-AE6D-4DFE-A4D5-29925D82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860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2B4A"/>
                </a:solidFill>
              </a:defRPr>
            </a:pPr>
            <a:r>
              <a:rPr sz="1575" b="1">
                <a:solidFill>
                  <a:srgbClr val="0B2B4A"/>
                </a:solidFill>
              </a:rPr>
              <a:t>真实 forecast、tariff、load、PV 数据与概率校准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237D7-9FA1-4662-A66D-26F58BA6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7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BE5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E1C7A-74B1-4DC4-9D62-029B94D4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P1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B53C9-1E10-40C0-BBD0-880DAB85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909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2B4A"/>
                </a:solidFill>
              </a:defRPr>
            </a:pPr>
            <a:r>
              <a:rPr sz="1575" b="1">
                <a:solidFill>
                  <a:srgbClr val="0B2B4A"/>
                </a:solidFill>
              </a:rPr>
              <a:t>通信中断、时钟漂移、重启恢复、数据缺失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051A7-053E-42BE-BF02-A74005A9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0"/>
            <a:ext cx="1057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BE5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C2790-0282-4819-8FE4-06936FC7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69AA"/>
                </a:solidFill>
              </a:defRPr>
            </a:pPr>
            <a:r>
              <a:rPr sz="1800" b="1">
                <a:solidFill>
                  <a:srgbClr val="1769AA"/>
                </a:solidFill>
              </a:rPr>
              <a:t>P2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3959C-7C8B-49C6-823B-A53560C6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958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2B4A"/>
                </a:solidFill>
              </a:defRPr>
            </a:pPr>
            <a:r>
              <a:rPr sz="1575" b="1">
                <a:solidFill>
                  <a:srgbClr val="0B2B4A"/>
                </a:solidFill>
              </a:rPr>
              <a:t>温度/衰减/设备差异与运营审计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FA408-F602-4A3D-BFAE-431F5319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86581"/>
                </a:solidFill>
              </a:defRPr>
            </a:pPr>
            <a:r>
              <a:rPr sz="750" b="0">
                <a:solidFill>
                  <a:srgbClr val="486581"/>
                </a:solidFill>
              </a:rPr>
              <a:t>A–F validation consolidation · frozen control / reporting evidence 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B9DD4-3AEE-4C08-AA6C-39E68F38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2B4A"/>
                </a:solidFill>
              </a:defRPr>
            </a:pPr>
            <a:r>
              <a:rPr sz="900" b="1">
                <a:solidFill>
                  <a:srgbClr val="0B2B4A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99017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2B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29154-25CD-41F7-AB16-D1B5F4DF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BFE7FF"/>
                </a:solidFill>
              </a:defRPr>
            </a:pPr>
            <a:r>
              <a:rPr sz="2700" b="1">
                <a:solidFill>
                  <a:srgbClr val="BFE7FF"/>
                </a:solidFill>
              </a:rPr>
              <a:t>领导决策建议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59B12-C6AA-46B0-A841-9AE97F28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57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批准 P0 HIL 与设备接口工作包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指定真实数据 owner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设定产品化 exit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0D9C4-59BF-41E6-93F4-F50D4CE3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62100"/>
            <a:ext cx="2857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3"/>
          </a:solidFill>
          <a:ln xmlns:a="http://schemas.openxmlformats.org/drawingml/2006/main" w="9525">
            <a:solidFill>
              <a:srgbClr val="2C5D8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58514-5084-4B37-B427-6415A878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05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FE7FF"/>
                </a:solidFill>
              </a:defRPr>
            </a:pPr>
            <a:r>
              <a:rPr sz="1500" b="1">
                <a:solidFill>
                  <a:srgbClr val="BFE7FF"/>
                </a:solidFill>
              </a:rPr>
              <a:t>现在不做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E2675-FC9E-45A4-924E-193C56B4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622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不启动 Campaign G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不扩大合成矩阵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不将仿真 PASS 等同产品就绪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30A48-F56F-443C-BE21-E65FEC6D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5EAF7"/>
                </a:solidFill>
              </a:defRPr>
            </a:pPr>
            <a:r>
              <a:rPr sz="1875" b="1">
                <a:solidFill>
                  <a:srgbClr val="D5EAF7"/>
                </a:solidFill>
              </a:rPr>
              <a:t>A–F 的价值，是为下一阶段 HIL 与现场数据验证提供可审计起点。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B4415-D237-4F1F-ADBD-3AC27723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FE7FF"/>
                </a:solidFill>
              </a:defRPr>
            </a:pPr>
            <a:r>
              <a:rPr sz="1050" b="0">
                <a:solidFill>
                  <a:srgbClr val="BFE7FF"/>
                </a:solidFill>
              </a:rPr>
              <a:t>EOS · Residential EMS 1.0</a:t>
            </a:r>
          </a:p>
        </p:txBody>
      </p:sp>
    </p:spTree>
    <p:extLst>
      <p:ext uri="{BB962C8B-B14F-4D97-AF65-F5344CB8AC3E}">
        <p14:creationId xmlns:p14="http://schemas.microsoft.com/office/powerpoint/2010/main" val="14312975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757C3B-2049-4F66-8E44-70D684D8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D70B8"/>
                </a:solidFill>
              </a:defRPr>
            </a:pPr>
            <a:r>
              <a:rPr sz="975" b="1">
                <a:solidFill>
                  <a:srgbClr val="1D70B8"/>
                </a:solidFill>
              </a:rPr>
              <a:t>FORECAST ERROR + MPC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98445-B621-4DBE-ACB0-01849B92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3456"/>
                </a:solidFill>
              </a:defRPr>
            </a:pPr>
            <a:r>
              <a:rPr sz="2400" b="1">
                <a:solidFill>
                  <a:srgbClr val="0F3456"/>
                </a:solidFill>
              </a:rPr>
              <a:t>预测 ≠ 实际：MPC 每小时只执行当前动作，并基于实际状态重规划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1FEB1-C26F-4BC8-B440-04F1AF9F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FC605-3647-4314-96C9-669E4C7C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190"/>
                </a:solidFill>
              </a:defRPr>
            </a:pPr>
            <a:r>
              <a:rPr sz="750" b="0">
                <a:solidFill>
                  <a:srgbClr val="5B7190"/>
                </a:solidFill>
              </a:rPr>
              <a:t>A-F validation consolidation · frozen control / reporting evidence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B402E-B721-4539-9DA2-ACB13D54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F3456"/>
                </a:solidFill>
              </a:defRPr>
            </a:pPr>
            <a:r>
              <a:rPr sz="900" b="1">
                <a:solidFill>
                  <a:srgbClr val="0F3456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D2E50-B81A-47EE-9212-1AE0BC48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D70B8"/>
                </a:solidFill>
              </a:defRPr>
            </a:pPr>
            <a:r>
              <a:rPr sz="1200" b="1">
                <a:solidFill>
                  <a:srgbClr val="1D70B8"/>
                </a:solidFill>
              </a:rPr>
              <a:t>Campaign C · C_REFERENCE_LOAD_LATE_2H · Schedule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1BDCC-3483-4C24-A1F6-0CD1FC8D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6572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D7E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342C6-0F12-473B-82D0-F61CFAB5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F3456"/>
                </a:solidFill>
              </a:defRPr>
            </a:pPr>
            <a:r>
              <a:rPr sz="1200" b="1">
                <a:solidFill>
                  <a:srgbClr val="0F3456"/>
                </a:solidFill>
              </a:rPr>
              <a:t>负载预测与真实负载（kW）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1238250" y="2705100"/>
          <a:ext xmlns:a="http://schemas.openxmlformats.org/drawingml/2006/main" cx="5943600" cy="1924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108bf3cd1d4f6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4FCA8-55F0-4118-B6B2-06EAB7B8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D70B8"/>
                </a:solidFill>
              </a:defRPr>
            </a:pPr>
            <a:r>
              <a:rPr sz="825" b="1">
                <a:solidFill>
                  <a:srgbClr val="1D70B8"/>
                </a:solidFill>
              </a:rPr>
              <a:t>Forecast 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EC973-1A4D-4643-B8BE-ADDB1488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E07A00"/>
                </a:solidFill>
              </a:defRPr>
            </a:pPr>
            <a:r>
              <a:rPr sz="825" b="1">
                <a:solidFill>
                  <a:srgbClr val="E07A00"/>
                </a:solidFill>
              </a:rPr>
              <a:t>Realized 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3BD84-92D5-4DFC-8C46-4471D5C6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75617-CD6C-42EF-85B8-33111387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B60B8-83FB-4627-9E13-F2A4F5A5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D70B8"/>
                </a:solidFill>
              </a:defRPr>
            </a:pPr>
            <a:r>
              <a:rPr sz="1350" b="1">
                <a:solidFill>
                  <a:srgbClr val="1D70B8"/>
                </a:solidFill>
              </a:rPr>
              <a:t>事实输入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78C43-6858-4B1B-A545-0EC8FBE2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76525"/>
            <a:ext cx="2781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forecast 用于 planning；本小时 realized PV/Load/Tariff 进入 Simulator。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A9FF2-B3B0-4508-8C0C-DE66F48F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CD804-186A-4D38-929E-27788B40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6225F-EA44-4C11-A9FC-5CB857F7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95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79455"/>
                </a:solidFill>
              </a:defRPr>
            </a:pPr>
            <a:r>
              <a:rPr sz="1350" b="1">
                <a:solidFill>
                  <a:srgbClr val="079455"/>
                </a:solidFill>
              </a:rPr>
              <a:t>滚动语义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7D216-626D-45C4-9C8C-301E6193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67150"/>
            <a:ext cx="2781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solve horizon → current action → actual SOC/Grid → 下一小时再规划。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134F0-F9CB-4448-9794-7F0D6CF9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4FA28E-0BBF-4F24-804D-79054E94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271C8F-E677-4169-BFEA-761B0D62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863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07A00"/>
                </a:solidFill>
              </a:defRPr>
            </a:pPr>
            <a:r>
              <a:rPr sz="1350" b="1">
                <a:solidFill>
                  <a:srgbClr val="E07A00"/>
                </a:solidFill>
              </a:rPr>
              <a:t>可观测结果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0F142E-F59D-4ABB-A412-A7B6C2CC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57775"/>
            <a:ext cx="2781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对 perfect anchor：10 h actual battery power 不同；最大 1.600 kW。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55380D-7DF8-481A-A032-79982920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F3456"/>
                </a:solidFill>
              </a:defRPr>
            </a:pPr>
            <a:r>
              <a:rPr sz="1425" b="0">
                <a:solidFill>
                  <a:srgbClr val="0F3456"/>
                </a:solidFill>
              </a:rPr>
              <a:t>这不是“把预测当事实”：预测影响本轮规划，实际状态决定下一轮起点与结算。</a:t>
            </a:r>
          </a:p>
        </p:txBody>
      </p:sp>
    </p:spTree>
    <p:extLst>
      <p:ext uri="{BB962C8B-B14F-4D97-AF65-F5344CB8AC3E}">
        <p14:creationId xmlns:p14="http://schemas.microsoft.com/office/powerpoint/2010/main" val="4605100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652665-AD4B-4525-B823-EAD45203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D70B8"/>
                </a:solidFill>
              </a:defRPr>
            </a:pPr>
            <a:r>
              <a:rPr sz="975" b="1">
                <a:solidFill>
                  <a:srgbClr val="1D70B8"/>
                </a:solidFill>
              </a:rPr>
              <a:t>EXPLAINABLE CURRENT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C16BA-53A2-4C3D-973F-FF84E2B9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3456"/>
                </a:solidFill>
              </a:defRPr>
            </a:pPr>
            <a:r>
              <a:rPr sz="2400" b="1">
                <a:solidFill>
                  <a:srgbClr val="0F3456"/>
                </a:solidFill>
              </a:rPr>
              <a:t>一个小时的可解释闭环：候选动作不等于最终执行动作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461D5-897B-4381-9432-E61A1AD1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E5ADB-E2C8-4B02-8D5B-7D71FC22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190"/>
                </a:solidFill>
              </a:defRPr>
            </a:pPr>
            <a:r>
              <a:rPr sz="750" b="0">
                <a:solidFill>
                  <a:srgbClr val="5B7190"/>
                </a:solidFill>
              </a:rPr>
              <a:t>A-F validation consolidation · frozen control / reporting evidence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2C86C-DB3F-4A46-BCFC-8BDA3E65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F3456"/>
                </a:solidFill>
              </a:defRPr>
            </a:pPr>
            <a:r>
              <a:rPr sz="900" b="1">
                <a:solidFill>
                  <a:srgbClr val="0F3456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8215F-F97C-4765-9A58-12320FAF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D70B8"/>
                </a:solidFill>
              </a:defRPr>
            </a:pPr>
            <a:r>
              <a:rPr sz="1200" b="1">
                <a:solidFill>
                  <a:srgbClr val="1D70B8"/>
                </a:solidFill>
              </a:rPr>
              <a:t>Campaign A · A01_REFERENCE_TASK175 · Schedule · 15:00 UTC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2F250-2737-4632-AC7B-B7EDA61C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2238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E818A-7DE6-41DD-BFB0-7627DC80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89883-B83B-4A15-A133-0CE90889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33675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D70B8"/>
                </a:solidFill>
              </a:defRPr>
            </a:pPr>
            <a:r>
              <a:rPr sz="1350" b="1">
                <a:solidFill>
                  <a:srgbClr val="1D70B8"/>
                </a:solidFill>
              </a:rPr>
              <a:t>① Candidate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EDA85-0BBF-4DBB-9432-841049BB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8764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charge</a:t>
            </a:r>
          </a:p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1.00 kW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基于预测/目标形成的候选当前动作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5C7E2-EB21-4B85-A8D5-4A481152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24125"/>
            <a:ext cx="2238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C403B-1E1E-4A5F-8CA4-99DCA175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241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04670-B1E5-47F5-9228-54D646FD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33675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07A00"/>
                </a:solidFill>
              </a:defRPr>
            </a:pPr>
            <a:r>
              <a:rPr sz="1350" b="1">
                <a:solidFill>
                  <a:srgbClr val="E07A00"/>
                </a:solidFill>
              </a:rPr>
              <a:t>② Physical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3EFF4-9DBD-4258-8B90-48DABECD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05150"/>
            <a:ext cx="18764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max_soc_limit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SOC 已到上界；不是策略偏好，而是物理边界证据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D8FC0-E67C-4EFE-BB0A-611427A6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24125"/>
            <a:ext cx="2238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1D2C9-F1D0-4567-84F7-244E2548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241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ECB9B-23D1-4929-89CB-011B5C4F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33675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A5AF8"/>
                </a:solidFill>
              </a:defRPr>
            </a:pPr>
            <a:r>
              <a:rPr sz="1350" b="1">
                <a:solidFill>
                  <a:srgbClr val="7A5AF8"/>
                </a:solidFill>
              </a:rPr>
              <a:t>③ Final decision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C54A1-F0C3-4354-9CC7-86212164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18764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idle</a:t>
            </a:r>
          </a:p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0.00 kW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物理修正后，禁止继续充电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FB009-FF25-4DDD-9C10-B0D03120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24125"/>
            <a:ext cx="2238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996B64-BD25-4354-A641-3A493D61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241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570B5-E4C4-47B6-AFD9-DCBF8BF2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33675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79455"/>
                </a:solidFill>
              </a:defRPr>
            </a:pPr>
            <a:r>
              <a:rPr sz="1350" b="1">
                <a:solidFill>
                  <a:srgbClr val="079455"/>
                </a:solidFill>
              </a:rPr>
              <a:t>④ Actual execution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3F2EE2-27E9-4809-B21C-60AF6973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05150"/>
            <a:ext cx="18764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actual battery power</a:t>
            </a:r>
          </a:p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0.00 kW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Simulator 的实际执行事实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840866-DB8E-4DA9-AC83-E1A7912D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81375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70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CF12C-7DDA-4172-A31C-4333F9B9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70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B63B87-21CD-4CEE-AF0A-B2B31203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81375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70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675A72-E813-4FE1-B8D9-6F5DB434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990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B6E2C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E31378-2DCC-4948-9A98-598F0B30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482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F3456"/>
                </a:solidFill>
              </a:defRPr>
            </a:pPr>
            <a:r>
              <a:rPr sz="1575" b="1">
                <a:solidFill>
                  <a:srgbClr val="0F3456"/>
                </a:solidFill>
              </a:rPr>
              <a:t>审计要点：Candidate → Constraint Evidence → Revision → Final → Actual 每一层均可追溯；不能用候选动作替代实际执行结果。</a:t>
            </a:r>
          </a:p>
        </p:txBody>
      </p:sp>
    </p:spTree>
    <p:extLst>
      <p:ext uri="{BB962C8B-B14F-4D97-AF65-F5344CB8AC3E}">
        <p14:creationId xmlns:p14="http://schemas.microsoft.com/office/powerpoint/2010/main" val="2712862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870D74-63BA-4461-B909-5AC3511E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D70B8"/>
                </a:solidFill>
              </a:defRPr>
            </a:pPr>
            <a:r>
              <a:rPr sz="975" b="1">
                <a:solidFill>
                  <a:srgbClr val="1D70B8"/>
                </a:solidFill>
              </a:rPr>
              <a:t>A-F VALIDATION LADDER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E671F-F1B5-4A47-8C49-30D8D8EC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3456"/>
                </a:solidFill>
              </a:defRPr>
            </a:pPr>
            <a:r>
              <a:rPr sz="2400" b="1">
                <a:solidFill>
                  <a:srgbClr val="0F3456"/>
                </a:solidFill>
              </a:rPr>
              <a:t>A-F 逐层增加证据强度，但没有把仿真 PASS 等同于产品就绪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BC298-3940-45DA-9CCD-79404B81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EB21C-F9A0-42E4-B13A-54E2230D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190"/>
                </a:solidFill>
              </a:defRPr>
            </a:pPr>
            <a:r>
              <a:rPr sz="750" b="0">
                <a:solidFill>
                  <a:srgbClr val="5B7190"/>
                </a:solidFill>
              </a:rPr>
              <a:t>A-F validation consolidation · frozen control / reporting evidence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7E53D-867D-4127-9885-7A2F93BC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F3456"/>
                </a:solidFill>
              </a:defRPr>
            </a:pPr>
            <a:r>
              <a:rPr sz="900" b="1">
                <a:solidFill>
                  <a:srgbClr val="0F3456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1B876-88C6-46B9-9E03-0BECFA45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47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7DD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B75AD-821E-4251-B631-E1E708AF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D70B8"/>
                </a:solidFill>
              </a:defRPr>
            </a:pPr>
            <a:r>
              <a:rPr sz="2175" b="1">
                <a:solidFill>
                  <a:srgbClr val="1D70B8"/>
                </a:solidFill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4AE80-7E38-444C-8E32-19BE3C1F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F3456"/>
                </a:solidFill>
              </a:defRPr>
            </a:pPr>
            <a:r>
              <a:rPr sz="1200" b="1">
                <a:solidFill>
                  <a:srgbClr val="0F3456"/>
                </a:solidFill>
              </a:rPr>
              <a:t>冻结基准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E1F56-797B-4EB3-BECA-5FBF91F1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B7190"/>
                </a:solidFill>
              </a:defRPr>
            </a:pPr>
            <a:r>
              <a:rPr sz="825" b="0">
                <a:solidFill>
                  <a:srgbClr val="5B7190"/>
                </a:solidFill>
              </a:rPr>
              <a:t>确定性日基线与接受性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FC6EE-0CD6-482F-95B0-0DCD3473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098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B719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E8178-C0C1-4022-A984-BF2056E5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238375"/>
            <a:ext cx="147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7DD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F919B-F9E7-4C7D-BE95-6459FB91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81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D70B8"/>
                </a:solidFill>
              </a:defRPr>
            </a:pPr>
            <a:r>
              <a:rPr sz="2175" b="1">
                <a:solidFill>
                  <a:srgbClr val="1D70B8"/>
                </a:solidFill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EBA33-A40B-4F79-A88D-4097D050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81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F3456"/>
                </a:solidFill>
              </a:defRPr>
            </a:pPr>
            <a:r>
              <a:rPr sz="1200" b="1">
                <a:solidFill>
                  <a:srgbClr val="0F3456"/>
                </a:solidFill>
              </a:rPr>
              <a:t>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1E8CB-4A80-41DF-9768-32602A74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4800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B7190"/>
                </a:solidFill>
              </a:defRPr>
            </a:pPr>
            <a:r>
              <a:rPr sz="825" b="0">
                <a:solidFill>
                  <a:srgbClr val="5B7190"/>
                </a:solidFill>
              </a:rPr>
              <a:t>物理/经济边界扫描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0E058-7F4D-455A-B169-55985E98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098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B719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EAC91-95F2-4D4E-AB48-B51C61EC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38375"/>
            <a:ext cx="147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7DD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79198-1C89-440F-A099-3ABADCD7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D70B8"/>
                </a:solidFill>
              </a:defRPr>
            </a:pPr>
            <a:r>
              <a:rPr sz="2175" b="1">
                <a:solidFill>
                  <a:srgbClr val="1D70B8"/>
                </a:solidFill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AA8B2-41F8-4E0E-9160-64CDF16F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F3456"/>
                </a:solidFill>
              </a:defRPr>
            </a:pPr>
            <a:r>
              <a:rPr sz="1200" b="1">
                <a:solidFill>
                  <a:srgbClr val="0F3456"/>
                </a:solidFill>
              </a:rPr>
              <a:t>单日误差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69ADFF-7F3F-4B3C-9B40-38561BBD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4800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B7190"/>
                </a:solidFill>
              </a:defRPr>
            </a:pPr>
            <a:r>
              <a:rPr sz="825" b="0">
                <a:solidFill>
                  <a:srgbClr val="5B7190"/>
                </a:solidFill>
              </a:rPr>
              <a:t>forecast ≠ realized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8F08D6-8025-4F43-9682-D8633D14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098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B719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7C41D9-2C3E-464C-A887-F681B44D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38375"/>
            <a:ext cx="147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E"/>
          </a:solidFill>
          <a:ln xmlns:a="http://schemas.openxmlformats.org/drawingml/2006/main" w="9525">
            <a:solidFill>
              <a:srgbClr val="C7DD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F53098-EDCA-4AAF-B1C1-90A9480C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7A5AF8"/>
                </a:solidFill>
              </a:defRPr>
            </a:pPr>
            <a:r>
              <a:rPr sz="2175" b="1">
                <a:solidFill>
                  <a:srgbClr val="7A5AF8"/>
                </a:solidFill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A45EEC-ED0A-4CDC-813A-8ADB54ED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F3456"/>
                </a:solidFill>
              </a:defRPr>
            </a:pPr>
            <a:r>
              <a:rPr sz="1200" b="1">
                <a:solidFill>
                  <a:srgbClr val="0F3456"/>
                </a:solidFill>
              </a:rPr>
              <a:t>多日连续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79DBA2-5FDB-47E1-9C1F-84AD635D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B7190"/>
                </a:solidFill>
              </a:defRPr>
            </a:pPr>
            <a:r>
              <a:rPr sz="825" b="0">
                <a:solidFill>
                  <a:srgbClr val="5B7190"/>
                </a:solidFill>
              </a:rPr>
              <a:t>SOC carry 与账务连续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A5DCA8-BEE9-4D05-8510-E87104AC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98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B719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F7B80-15F2-4856-8DEE-CC06E618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38375"/>
            <a:ext cx="147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E"/>
          </a:solidFill>
          <a:ln xmlns:a="http://schemas.openxmlformats.org/drawingml/2006/main" w="9525">
            <a:solidFill>
              <a:srgbClr val="C7DD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AA5DA9-1B43-4442-835E-1E143572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7A5AF8"/>
                </a:solidFill>
              </a:defRPr>
            </a:pPr>
            <a:r>
              <a:rPr sz="2175" b="1">
                <a:solidFill>
                  <a:srgbClr val="7A5AF8"/>
                </a:solidFill>
              </a:rPr>
              <a:t>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A95735-470A-41AD-870B-C866F481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F3456"/>
                </a:solidFill>
              </a:defRPr>
            </a:pPr>
            <a:r>
              <a:rPr sz="1200" b="1">
                <a:solidFill>
                  <a:srgbClr val="0F3456"/>
                </a:solidFill>
              </a:rPr>
              <a:t>概率样本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B513DE-E96F-4CED-B55C-1B58FE4F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B7190"/>
                </a:solidFill>
              </a:defRPr>
            </a:pPr>
            <a:r>
              <a:rPr sz="825" b="0">
                <a:solidFill>
                  <a:srgbClr val="5B7190"/>
                </a:solidFill>
              </a:rPr>
              <a:t>fixed-seed 独立样本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F8D171-D10D-42BD-B88D-3E583024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098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B719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4D23AD-5AD4-46D6-BF5D-8EF4CFE4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38375"/>
            <a:ext cx="147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E"/>
          </a:solidFill>
          <a:ln xmlns:a="http://schemas.openxmlformats.org/drawingml/2006/main" w="9525">
            <a:solidFill>
              <a:srgbClr val="C7DD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BB73FE-95A2-4148-8C55-03D4BA87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7A5AF8"/>
                </a:solidFill>
              </a:defRPr>
            </a:pPr>
            <a:r>
              <a:rPr sz="2175" b="1">
                <a:solidFill>
                  <a:srgbClr val="7A5AF8"/>
                </a:solidFill>
              </a:rPr>
              <a:t>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89FF3C-D3C4-45E7-938B-E95F2D7E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F3456"/>
                </a:solidFill>
              </a:defRPr>
            </a:pPr>
            <a:r>
              <a:rPr sz="1200" b="1">
                <a:solidFill>
                  <a:srgbClr val="0F3456"/>
                </a:solidFill>
              </a:rPr>
              <a:t>相关尾部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D5B2A9-A1BB-4BFA-A41A-17EF989B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4800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B7190"/>
                </a:solidFill>
              </a:defRPr>
            </a:pPr>
            <a:r>
              <a:rPr sz="825" b="0">
                <a:solidFill>
                  <a:srgbClr val="5B7190"/>
                </a:solidFill>
              </a:rPr>
              <a:t>跨日相关 + deterministic tail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284DB3-411C-4C07-A72B-1F11A14E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F8D20D-A710-49C6-8DEF-509C9F34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FA16D9-A8A6-4024-90E7-BD09358A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57675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79455"/>
                </a:solidFill>
              </a:defRPr>
            </a:pPr>
            <a:r>
              <a:rPr sz="1350" b="1">
                <a:solidFill>
                  <a:srgbClr val="079455"/>
                </a:solidFill>
              </a:rPr>
              <a:t>已证明（仿真范围内）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5B6C91-4286-48C0-9B72-7014C048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4400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冻结控制链在已定义的确定性、预测误差、固定种子样本、跨日相关与尾部测试中保持可追溯的执行/会计证据。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C07BAC-A1DE-4087-8F66-B9B17E8B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F81E7C-190C-43EE-A931-DADA8124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AC480A-5EFF-4A23-A93D-733629F1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57675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2D20"/>
                </a:solidFill>
              </a:defRPr>
            </a:pPr>
            <a:r>
              <a:rPr sz="1350" b="1">
                <a:solidFill>
                  <a:srgbClr val="D92D20"/>
                </a:solidFill>
              </a:rPr>
              <a:t>尚未证明（产品化范围）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368485-7B8D-462A-9116-37A84BEC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29150"/>
            <a:ext cx="4400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不等同于真实天气概率认证、HIL、PCS/BMS 通信、硬件保护、现场安全或客户部署就绪。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5B6485-162E-43B4-B881-93125938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480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B7190"/>
                </a:solidFill>
              </a:defRPr>
            </a:pPr>
            <a:r>
              <a:rPr sz="675">
                <a:solidFill>
                  <a:srgbClr val="5B7190"/>
                </a:solidFill>
              </a:rPr>
              <a:t>24 scenarios</a:t>
            </a:r>
          </a:p>
          <a:p xmlns:a="http://schemas.openxmlformats.org/drawingml/2006/main">
            <a:pPr>
              <a:defRPr sz="675">
                <a:solidFill>
                  <a:srgbClr val="5B7190"/>
                </a:solidFill>
              </a:defRPr>
            </a:pPr>
            <a:r>
              <a:rPr sz="675">
                <a:solidFill>
                  <a:srgbClr val="5B7190"/>
                </a:solidFill>
              </a:rPr>
              <a:t>48 logical / actual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639CEE-E719-4EFF-915F-5FF40600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4480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B7190"/>
                </a:solidFill>
              </a:defRPr>
            </a:pPr>
            <a:r>
              <a:rPr sz="675">
                <a:solidFill>
                  <a:srgbClr val="5B7190"/>
                </a:solidFill>
              </a:rPr>
              <a:t>72 scenarios</a:t>
            </a:r>
          </a:p>
          <a:p xmlns:a="http://schemas.openxmlformats.org/drawingml/2006/main">
            <a:pPr>
              <a:defRPr sz="675">
                <a:solidFill>
                  <a:srgbClr val="5B7190"/>
                </a:solidFill>
              </a:defRPr>
            </a:pPr>
            <a:r>
              <a:rPr sz="675">
                <a:solidFill>
                  <a:srgbClr val="5B7190"/>
                </a:solidFill>
              </a:rPr>
              <a:t>144 paths / 102 actual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4714EC-E29F-4179-AC35-52A8D9DA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480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B7190"/>
                </a:solidFill>
              </a:defRPr>
            </a:pPr>
            <a:r>
              <a:rPr sz="675">
                <a:solidFill>
                  <a:srgbClr val="5B7190"/>
                </a:solidFill>
              </a:rPr>
              <a:t>39 scenarios</a:t>
            </a:r>
          </a:p>
          <a:p xmlns:a="http://schemas.openxmlformats.org/drawingml/2006/main">
            <a:pPr>
              <a:defRPr sz="675">
                <a:solidFill>
                  <a:srgbClr val="5B7190"/>
                </a:solidFill>
              </a:defRPr>
            </a:pPr>
            <a:r>
              <a:rPr sz="675">
                <a:solidFill>
                  <a:srgbClr val="5B7190"/>
                </a:solidFill>
              </a:rPr>
              <a:t>78 independent actual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914789-B6A8-4A3C-8F0A-5AC70570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4480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B7190"/>
                </a:solidFill>
              </a:defRPr>
            </a:pPr>
            <a:r>
              <a:rPr sz="675">
                <a:solidFill>
                  <a:srgbClr val="5B7190"/>
                </a:solidFill>
              </a:rPr>
              <a:t>6 cases · 88 scenario-days</a:t>
            </a:r>
          </a:p>
          <a:p xmlns:a="http://schemas.openxmlformats.org/drawingml/2006/main">
            <a:pPr>
              <a:defRPr sz="675">
                <a:solidFill>
                  <a:srgbClr val="5B7190"/>
                </a:solidFill>
              </a:defRPr>
            </a:pPr>
            <a:r>
              <a:rPr sz="675">
                <a:solidFill>
                  <a:srgbClr val="5B7190"/>
                </a:solidFill>
              </a:rPr>
              <a:t>12 paths · 176 daily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F8AC9F-85E8-4517-86B4-4781462C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4480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B7190"/>
                </a:solidFill>
              </a:defRPr>
            </a:pPr>
            <a:r>
              <a:rPr sz="675">
                <a:solidFill>
                  <a:srgbClr val="5B7190"/>
                </a:solidFill>
              </a:rPr>
              <a:t>192 samples · 384 paths</a:t>
            </a:r>
          </a:p>
          <a:p xmlns:a="http://schemas.openxmlformats.org/drawingml/2006/main">
            <a:pPr>
              <a:defRPr sz="675">
                <a:solidFill>
                  <a:srgbClr val="5B7190"/>
                </a:solidFill>
              </a:defRPr>
            </a:pPr>
            <a:r>
              <a:rPr sz="675">
                <a:solidFill>
                  <a:srgbClr val="5B7190"/>
                </a:solidFill>
              </a:rPr>
              <a:t>6 anchors · 390 actual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DAAFE7-9CCF-4A33-AEE9-8834717F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480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B7190"/>
                </a:solidFill>
              </a:defRPr>
            </a:pPr>
            <a:r>
              <a:rPr sz="675">
                <a:solidFill>
                  <a:srgbClr val="5B7190"/>
                </a:solidFill>
              </a:rPr>
              <a:t>60 scenarios · 420 scenario-days</a:t>
            </a:r>
          </a:p>
          <a:p xmlns:a="http://schemas.openxmlformats.org/drawingml/2006/main">
            <a:pPr>
              <a:defRPr sz="675">
                <a:solidFill>
                  <a:srgbClr val="5B7190"/>
                </a:solidFill>
              </a:defRPr>
            </a:pPr>
            <a:r>
              <a:rPr sz="675">
                <a:solidFill>
                  <a:srgbClr val="5B7190"/>
                </a:solidFill>
              </a:rPr>
              <a:t>126 paths · 882 daily</a:t>
            </a:r>
          </a:p>
        </p:txBody>
      </p:sp>
    </p:spTree>
    <p:extLst>
      <p:ext uri="{BB962C8B-B14F-4D97-AF65-F5344CB8AC3E}">
        <p14:creationId xmlns:p14="http://schemas.microsoft.com/office/powerpoint/2010/main" val="18904043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6010B2-771F-4F88-B84D-C175CE45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D70B8"/>
                </a:solidFill>
              </a:defRPr>
            </a:pPr>
            <a:r>
              <a:rPr sz="975" b="1">
                <a:solidFill>
                  <a:srgbClr val="1D70B8"/>
                </a:solidFill>
              </a:rPr>
              <a:t>TOU TARIFF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EC5D3-A8BF-46C8-B7A3-81FBDD2F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3456"/>
                </a:solidFill>
              </a:defRPr>
            </a:pPr>
            <a:r>
              <a:rPr sz="2400" b="1">
                <a:solidFill>
                  <a:srgbClr val="0F3456"/>
                </a:solidFill>
              </a:rPr>
              <a:t>分时电价已可仿真：价格机会受经济、净负荷与物理边界共同约束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79F70-A698-4783-A1D1-24DD9715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E3CA5-279E-4C35-8217-F9DA9B9D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190"/>
                </a:solidFill>
              </a:defRPr>
            </a:pPr>
            <a:r>
              <a:rPr sz="750" b="0">
                <a:solidFill>
                  <a:srgbClr val="5B7190"/>
                </a:solidFill>
              </a:rPr>
              <a:t>A-F validation consolidation · frozen control / reporting evidence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C3EDF-37DA-4221-8E52-123598C5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F3456"/>
                </a:solidFill>
              </a:defRPr>
            </a:pPr>
            <a:r>
              <a:rPr sz="900" b="1">
                <a:solidFill>
                  <a:srgbClr val="0F3456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AFF9C-20B5-4D04-9015-35F6595D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D70B8"/>
                </a:solidFill>
              </a:defRPr>
            </a:pPr>
            <a:r>
              <a:rPr sz="1200" b="1">
                <a:solidFill>
                  <a:srgbClr val="1D70B8"/>
                </a:solidFill>
              </a:rPr>
              <a:t>Reference 日 · caller-supplied tariff · 1 小时间隔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DBA59-C73B-466E-BC59-0246E297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24574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6"/>
          </a:solidFill>
          <a:ln xmlns:a="http://schemas.openxmlformats.org/drawingml/2006/main" w="9525">
            <a:solidFill>
              <a:srgbClr val="C7DD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D2907-07AF-4F9B-9308-E1BE421F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3456"/>
                </a:solidFill>
              </a:defRPr>
            </a:pPr>
            <a:r>
              <a:rPr sz="1350" b="1">
                <a:solidFill>
                  <a:srgbClr val="0F3456"/>
                </a:solidFill>
              </a:rPr>
              <a:t>低价</a:t>
            </a:r>
          </a:p>
          <a:p xmlns:a="http://schemas.openxmlformats.org/drawingml/2006/main">
            <a:pPr>
              <a:buNone/>
              <a:defRPr sz="1350" b="1">
                <a:solidFill>
                  <a:srgbClr val="0F3456"/>
                </a:solidFill>
              </a:defRPr>
            </a:pPr>
            <a:r>
              <a:rPr sz="1350" b="1">
                <a:solidFill>
                  <a:srgbClr val="0F3456"/>
                </a:solidFill>
              </a:rPr>
              <a:t>0.20 / kWh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4F70D-2720-4FCD-B927-17810AAE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36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190"/>
                </a:solidFill>
              </a:defRPr>
            </a:pPr>
            <a:r>
              <a:rPr sz="750" b="0">
                <a:solidFill>
                  <a:srgbClr val="5B7190"/>
                </a:solidFill>
              </a:rPr>
              <a:t>0:00-6:00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C32E3-258B-4DB0-B0C9-612648D4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76500"/>
            <a:ext cx="49149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7DD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DDCEC-CC2D-4748-9717-37F6EE8D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67000"/>
            <a:ext cx="481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3456"/>
                </a:solidFill>
              </a:defRPr>
            </a:pPr>
            <a:r>
              <a:rPr sz="1350" b="1">
                <a:solidFill>
                  <a:srgbClr val="0F3456"/>
                </a:solidFill>
              </a:rPr>
              <a:t>平段</a:t>
            </a:r>
          </a:p>
          <a:p xmlns:a="http://schemas.openxmlformats.org/drawingml/2006/main">
            <a:pPr>
              <a:buNone/>
              <a:defRPr sz="1350" b="1">
                <a:solidFill>
                  <a:srgbClr val="0F3456"/>
                </a:solidFill>
              </a:defRPr>
            </a:pPr>
            <a:r>
              <a:rPr sz="1350" b="1">
                <a:solidFill>
                  <a:srgbClr val="0F3456"/>
                </a:solidFill>
              </a:rPr>
              <a:t>0.50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818A1-8190-459C-AC80-F6D6FBD9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90875"/>
            <a:ext cx="481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190"/>
                </a:solidFill>
              </a:defRPr>
            </a:pPr>
            <a:r>
              <a:rPr sz="750" b="0">
                <a:solidFill>
                  <a:srgbClr val="5B7190"/>
                </a:solidFill>
              </a:rPr>
              <a:t>6:00-18:00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B7E1F-A7C5-4AD3-9479-93BC5D40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76500"/>
            <a:ext cx="16383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AD7"/>
          </a:solidFill>
          <a:ln xmlns:a="http://schemas.openxmlformats.org/drawingml/2006/main" w="9525">
            <a:solidFill>
              <a:srgbClr val="C7DD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72A58-6C93-45C9-BAA0-03C8067A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3456"/>
                </a:solidFill>
              </a:defRPr>
            </a:pPr>
            <a:r>
              <a:rPr sz="1350" b="1">
                <a:solidFill>
                  <a:srgbClr val="0F3456"/>
                </a:solidFill>
              </a:rPr>
              <a:t>峰段</a:t>
            </a:r>
          </a:p>
          <a:p xmlns:a="http://schemas.openxmlformats.org/drawingml/2006/main">
            <a:pPr>
              <a:buNone/>
              <a:defRPr sz="1350" b="1">
                <a:solidFill>
                  <a:srgbClr val="0F3456"/>
                </a:solidFill>
              </a:defRPr>
            </a:pPr>
            <a:r>
              <a:rPr sz="1350" b="1">
                <a:solidFill>
                  <a:srgbClr val="0F3456"/>
                </a:solidFill>
              </a:rPr>
              <a:t>0.90 / kWh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1E5ED-04AD-4400-9D8C-05BFD46C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9087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190"/>
                </a:solidFill>
              </a:defRPr>
            </a:pPr>
            <a:r>
              <a:rPr sz="750" b="0">
                <a:solidFill>
                  <a:srgbClr val="5B7190"/>
                </a:solidFill>
              </a:rPr>
              <a:t>18:00-22:00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28130-E586-49BD-9109-EDFCAB83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76500"/>
            <a:ext cx="819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7DD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CDDB9-AD27-4990-A86E-13596387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67000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3456"/>
                </a:solidFill>
              </a:defRPr>
            </a:pPr>
            <a:r>
              <a:rPr sz="1350" b="1">
                <a:solidFill>
                  <a:srgbClr val="0F3456"/>
                </a:solidFill>
              </a:rPr>
              <a:t>平段</a:t>
            </a:r>
          </a:p>
          <a:p xmlns:a="http://schemas.openxmlformats.org/drawingml/2006/main">
            <a:pPr>
              <a:buNone/>
              <a:defRPr sz="1350" b="1">
                <a:solidFill>
                  <a:srgbClr val="0F3456"/>
                </a:solidFill>
              </a:defRPr>
            </a:pPr>
            <a:r>
              <a:rPr sz="1350" b="1">
                <a:solidFill>
                  <a:srgbClr val="0F3456"/>
                </a:solidFill>
              </a:rPr>
              <a:t>0.50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AE11F-6695-4519-BE4F-ADACC570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908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190"/>
                </a:solidFill>
              </a:defRPr>
            </a:pPr>
            <a:r>
              <a:rPr sz="750" b="0">
                <a:solidFill>
                  <a:srgbClr val="5B7190"/>
                </a:solidFill>
              </a:rPr>
              <a:t>22:00-24:00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7CF2D-79E4-47E8-A321-9C742D18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52875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D6E49-FF49-4368-B981-0578797C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5287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5DA56F-F855-4C5F-8E78-9A43E3D2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624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79455"/>
                </a:solidFill>
              </a:defRPr>
            </a:pPr>
            <a:r>
              <a:rPr sz="1350" b="1">
                <a:solidFill>
                  <a:srgbClr val="079455"/>
                </a:solidFill>
              </a:rPr>
              <a:t>低价时段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2679E-D244-42E9-84D1-F7ED2B10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249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0:00 发生实际充电 1.022 kW；Economic gate 在正收益条件下不抑制 headroom-allowed charge。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8B4D82-A0C0-4D90-987C-9198CA9A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945657-6E94-4226-9F50-40355EEE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0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A40412-492F-4E6E-B980-FC46A904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624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D70B8"/>
                </a:solidFill>
              </a:defRPr>
            </a:pPr>
            <a:r>
              <a:rPr sz="1350" b="1">
                <a:solidFill>
                  <a:srgbClr val="1D70B8"/>
                </a:solidFill>
              </a:rPr>
              <a:t>PV 时段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6CD279-A1A6-4A0C-BFB6-FF982480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33900"/>
            <a:ext cx="249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PV surplus 充电不被 cheap-grid economics 误判；仍需遵守 SOC/功率物理边界。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6A4B47-F8EF-42C0-AE47-97AA5228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52875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DA3D62-7581-431E-B4D5-71C53F84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5287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793E99-3E5F-4F6D-8FED-506C8F04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624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07A00"/>
                </a:solidFill>
              </a:defRPr>
            </a:pPr>
            <a:r>
              <a:rPr sz="1350" b="1">
                <a:solidFill>
                  <a:srgbClr val="E07A00"/>
                </a:solidFill>
              </a:rPr>
              <a:t>高价时段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8CFA79-3683-4CF6-B6E4-3C32E93A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33900"/>
            <a:ext cx="249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F4C"/>
                </a:solidFill>
              </a:defRPr>
            </a:pPr>
            <a:r>
              <a:rPr sz="1200" b="0">
                <a:solidFill>
                  <a:srgbClr val="132F4C"/>
                </a:solidFill>
              </a:rPr>
              <a:t>18:00-21:00 的负荷缺口可触发放电，但放电不超过净家庭需求，避免电池诱发上网。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786404-19E1-485F-B2FA-A82F1AF1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626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F3456"/>
                </a:solidFill>
              </a:defRPr>
            </a:pPr>
            <a:r>
              <a:rPr sz="1350" b="0">
                <a:solidFill>
                  <a:srgbClr val="0F3456"/>
                </a:solidFill>
              </a:rPr>
              <a:t>TOU 是当前可复现的 caller-supplied tariff 仿真，不是已接入真实市场价格或实时价格预测服务。</a:t>
            </a:r>
          </a:p>
        </p:txBody>
      </p:sp>
    </p:spTree>
    <p:extLst>
      <p:ext uri="{BB962C8B-B14F-4D97-AF65-F5344CB8AC3E}">
        <p14:creationId xmlns:p14="http://schemas.microsoft.com/office/powerpoint/2010/main" val="1960126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2026-08-20T09:00:30.3230000Z</dcterms:created>
  <dcterms:modified xsi:type="dcterms:W3CDTF">2026-08-20T09:00:30.3230000Z</dcterms:modified>
</coreProperties>
</file>